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1" d="100"/>
          <a:sy n="61" d="100"/>
        </p:scale>
        <p:origin x="8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Slide 1 - Title. RapidDeploy: Supply Chain and Cold-Chain Operations Dashboard. IBM Hackathon 2025.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Slide 2 - Agenda. Walk the audience through the 14 slides that cover the problem, solution, architecture, features, tech stack, demo, and team.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Slide 3 - Problem Statement. Operations managers and fleet coordinators rely on disconnected tools. A reefer failure detected 2 hours late means the entire pharma shipment is lost. Port congestion and vehicle breakdowns cause cascading delays that go untracked.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Slide 4 - Our Solution. A FastAPI backend with WebSocket push, a vanilla JS dashboard, 6 REST API endpoints, and a live telemetry tab that pre-seeds from the API and then continues with live WS updates.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Slide 5 - Architecture. Three-layer design: vanilla HTML/JS frontend, FastAPI backend with 6 REST endpoints and 1 WebSocket endpoint, and an in-memory data layer seeded at startup with background asyncio telemetry emitter.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Slide 6 - Key Features Part 1. Three features: WebSocket telemetry, excursion detection, and sortable shipments table. All built without any frontend framework — pure vanilla JS.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Slide 7 - Key Features Part 2. Disruption tracking, KPI dashboard with 30s polling, and Leaflet map. All tab panels are correctly structured as siblings in the DOM, each loading on first click.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Slide 8 - Live Telemetry deep dive. Key point: the tab pre-seeds from the REST API immediately, then continues live. ECharts instances are guarded with _telemetryInited flag and resized with requestAnimationFrame after the panel becomes visible.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Slide 9 - Shipments and Fleet. 10 shipments across India with IoT readings. 15 fleet vehicles. Sortable table. Fleet grid shows cards with fuel bars, idle time, and assigned shipment.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Slide 10 - Alerts and Disruptions. Alerts are auto-generated from shipment state at startup. Disruptions are driven by the refactored _DISRUPTION_SPECS data table — all timestamps computed from a single _now() call for consistency.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Slide 11 - Tech Stack. No frontend framework — pure vanilla JS. IBM Bob used as AI coding assistant. No external database — everything is in-memory seeded at startup. Zero Docker or cloud deployment required.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Slide 12 - Demo walkthrough. Run uvicorn main:app --reload and open localhost:8000. All 6 tabs work out of the box — no configuration needed.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Slide 13 - Limitations and future scope. Honest about what is simulated. The architecture is designed to accept real IoT data — replacing the seed functions with database queries and MQTT subscriptions is the natural next step.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Slide 14 - Team. Four members: Patel Dikshit (lead), Parekh Rudra, Patel Dhruv, Patel Jainil. Track: Open. IBM Hackathon 2025.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Slide 15 - Thank You. Closing slide. Questions welcome. Run instructions on slide.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Lef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Right"/>
          <p:cNvSpPr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2" name="TopBar"/>
          <p:cNvSpPr txBox="1"/>
          <p:nvPr/>
        </p:nvSpPr>
        <p:spPr>
          <a:xfrm>
            <a:off x="0" y="0"/>
            <a:ext cx="12193200" cy="198000"/>
          </a:xfrm>
          <a:prstGeom prst="rect">
            <a:avLst/>
          </a:prstGeom>
          <a:solidFill>
            <a:srgbClr val="2F81F7"/>
          </a:solidFill>
        </p:spPr>
        <p:txBody>
          <a:bodyPr/>
          <a:lstStyle/>
          <a:p>
            <a:endParaRPr lang="en-US">
              <a:solidFill>
                <a:srgbClr val="2F81F7"/>
              </a:solidFill>
            </a:endParaRPr>
          </a:p>
        </p:txBody>
      </p:sp>
      <p:sp>
        <p:nvSpPr>
          <p:cNvPr id="100013" name="Title"/>
          <p:cNvSpPr txBox="1"/>
          <p:nvPr/>
        </p:nvSpPr>
        <p:spPr>
          <a:xfrm>
            <a:off x="720000" y="1008000"/>
            <a:ext cx="10800000" cy="136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400" b="1">
                <a:solidFill>
                  <a:srgbClr val="FFFFFF"/>
                </a:solidFill>
                <a:latin typeface="Segoe UI"/>
                <a:ea typeface="Segoe UI"/>
              </a:rPr>
              <a:t>RapidDeploy</a:t>
            </a:r>
          </a:p>
        </p:txBody>
      </p:sp>
      <p:sp>
        <p:nvSpPr>
          <p:cNvPr id="100014" name="Subtitle"/>
          <p:cNvSpPr txBox="1"/>
          <p:nvPr/>
        </p:nvSpPr>
        <p:spPr>
          <a:xfrm>
            <a:off x="720000" y="2520000"/>
            <a:ext cx="10800000" cy="576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600" b="0">
                <a:solidFill>
                  <a:srgbClr val="8B949E"/>
                </a:solidFill>
                <a:latin typeface="Segoe UI"/>
                <a:ea typeface="Segoe UI"/>
              </a:rPr>
              <a:t>Supply Chain &amp; Cold-Chain Operations Dashboard</a:t>
            </a:r>
          </a:p>
        </p:txBody>
      </p:sp>
      <p:sp>
        <p:nvSpPr>
          <p:cNvPr id="100015" name="Tagline"/>
          <p:cNvSpPr txBox="1"/>
          <p:nvPr/>
        </p:nvSpPr>
        <p:spPr>
          <a:xfrm>
            <a:off x="720000" y="3240000"/>
            <a:ext cx="108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 b="0">
                <a:solidFill>
                  <a:srgbClr val="2F81F7"/>
                </a:solidFill>
                <a:latin typeface="Segoe UI"/>
                <a:ea typeface="Segoe UI"/>
              </a:rPr>
              <a:t>Real-time IoT Telemetry  |  Fleet Monitoring  |  Disruption Intelligence</a:t>
            </a:r>
          </a:p>
        </p:txBody>
      </p:sp>
      <p:sp>
        <p:nvSpPr>
          <p:cNvPr id="100016" name="Team"/>
          <p:cNvSpPr txBox="1"/>
          <p:nvPr/>
        </p:nvSpPr>
        <p:spPr>
          <a:xfrm>
            <a:off x="720000" y="5940000"/>
            <a:ext cx="1044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0" dirty="0">
                <a:solidFill>
                  <a:srgbClr val="57606A"/>
                </a:solidFill>
                <a:latin typeface="Segoe UI"/>
                <a:ea typeface="Segoe UI"/>
              </a:rPr>
              <a:t>Team </a:t>
            </a:r>
            <a:r>
              <a:rPr lang="en-US" sz="1400" b="0" dirty="0" err="1">
                <a:solidFill>
                  <a:srgbClr val="57606A"/>
                </a:solidFill>
                <a:latin typeface="Segoe UI"/>
                <a:ea typeface="Segoe UI"/>
              </a:rPr>
              <a:t>RapidDeploy</a:t>
            </a:r>
            <a:r>
              <a:rPr lang="en-US" sz="1400" b="0" dirty="0">
                <a:solidFill>
                  <a:srgbClr val="57606A"/>
                </a:solidFill>
                <a:latin typeface="Segoe UI"/>
                <a:ea typeface="Segoe UI"/>
              </a:rPr>
              <a:t>  |  IBM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7" name="TopBar"/>
          <p:cNvSpPr txBox="1"/>
          <p:nvPr/>
        </p:nvSpPr>
        <p:spPr>
          <a:xfrm>
            <a:off x="0" y="0"/>
            <a:ext cx="12193200" cy="198000"/>
          </a:xfrm>
          <a:prstGeom prst="rect">
            <a:avLst/>
          </a:prstGeom>
          <a:solidFill>
            <a:srgbClr val="2F81F7"/>
          </a:solidFill>
        </p:spPr>
        <p:txBody>
          <a:bodyPr/>
          <a:lstStyle/>
          <a:p>
            <a:endParaRPr lang="en-US">
              <a:solidFill>
                <a:srgbClr val="2F81F7"/>
              </a:solidFill>
            </a:endParaRPr>
          </a:p>
        </p:txBody>
      </p:sp>
      <p:sp>
        <p:nvSpPr>
          <p:cNvPr id="100018" name="Title"/>
          <p:cNvSpPr txBox="1"/>
          <p:nvPr/>
        </p:nvSpPr>
        <p:spPr>
          <a:xfrm>
            <a:off x="720000" y="432000"/>
            <a:ext cx="7200000" cy="50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FFFFFF"/>
                </a:solidFill>
                <a:latin typeface="Segoe UI"/>
                <a:ea typeface="Segoe UI"/>
              </a:rPr>
              <a:t>Agenda</a:t>
            </a:r>
          </a:p>
        </p:txBody>
      </p:sp>
      <p:sp>
        <p:nvSpPr>
          <p:cNvPr id="100019" name="Items"/>
          <p:cNvSpPr txBox="1"/>
          <p:nvPr/>
        </p:nvSpPr>
        <p:spPr>
          <a:xfrm>
            <a:off x="720000" y="1080000"/>
            <a:ext cx="10800000" cy="5040000"/>
          </a:xfrm>
          <a:prstGeom prst="rect">
            <a:avLst/>
          </a:prstGeom>
          <a:noFill/>
        </p:spPr>
        <p:txBody>
          <a:bodyPr numCol="2"/>
          <a:lstStyle/>
          <a:p>
            <a:pPr>
              <a:lnSpc>
                <a:spcPct val="200000"/>
              </a:lnSpc>
            </a:pPr>
            <a:r>
              <a:rPr lang="en-US" sz="1900" b="0" dirty="0">
                <a:solidFill>
                  <a:srgbClr val="E6EDF3"/>
                </a:solidFill>
                <a:latin typeface="Segoe UI"/>
                <a:ea typeface="Segoe UI"/>
              </a:rPr>
              <a:t>01  Problem Statement</a:t>
            </a:r>
          </a:p>
          <a:p>
            <a:pPr>
              <a:lnSpc>
                <a:spcPct val="200000"/>
              </a:lnSpc>
            </a:pPr>
            <a:r>
              <a:rPr lang="en-US" sz="1900" b="0" dirty="0">
                <a:solidFill>
                  <a:srgbClr val="E6EDF3"/>
                </a:solidFill>
                <a:latin typeface="Segoe UI"/>
                <a:ea typeface="Segoe UI"/>
              </a:rPr>
              <a:t>02  Our Solution</a:t>
            </a:r>
          </a:p>
          <a:p>
            <a:pPr>
              <a:lnSpc>
                <a:spcPct val="200000"/>
              </a:lnSpc>
            </a:pPr>
            <a:r>
              <a:rPr lang="en-US" sz="1900" b="0" dirty="0">
                <a:solidFill>
                  <a:srgbClr val="E6EDF3"/>
                </a:solidFill>
                <a:latin typeface="Segoe UI"/>
                <a:ea typeface="Segoe UI"/>
              </a:rPr>
              <a:t>03  System Architecture</a:t>
            </a:r>
          </a:p>
          <a:p>
            <a:pPr>
              <a:lnSpc>
                <a:spcPct val="200000"/>
              </a:lnSpc>
            </a:pPr>
            <a:r>
              <a:rPr lang="en-US" sz="1900" b="0" dirty="0">
                <a:solidFill>
                  <a:srgbClr val="E6EDF3"/>
                </a:solidFill>
                <a:latin typeface="Segoe UI"/>
                <a:ea typeface="Segoe UI"/>
              </a:rPr>
              <a:t>04  Key Features — Part 1</a:t>
            </a:r>
          </a:p>
          <a:p>
            <a:pPr>
              <a:lnSpc>
                <a:spcPct val="200000"/>
              </a:lnSpc>
            </a:pPr>
            <a:r>
              <a:rPr lang="en-US" sz="1900" b="0" dirty="0">
                <a:solidFill>
                  <a:srgbClr val="E6EDF3"/>
                </a:solidFill>
                <a:latin typeface="Segoe UI"/>
                <a:ea typeface="Segoe UI"/>
              </a:rPr>
              <a:t>05  Key Features — Part 2</a:t>
            </a:r>
          </a:p>
          <a:p>
            <a:pPr>
              <a:lnSpc>
                <a:spcPct val="200000"/>
              </a:lnSpc>
            </a:pPr>
            <a:r>
              <a:rPr lang="en-US" sz="1900" b="0" dirty="0">
                <a:solidFill>
                  <a:srgbClr val="E6EDF3"/>
                </a:solidFill>
                <a:latin typeface="Segoe UI"/>
                <a:ea typeface="Segoe UI"/>
              </a:rPr>
              <a:t>06  Live Telemetry &amp; IoT Feed</a:t>
            </a:r>
          </a:p>
          <a:p>
            <a:pPr>
              <a:lnSpc>
                <a:spcPct val="200000"/>
              </a:lnSpc>
            </a:pPr>
            <a:r>
              <a:rPr lang="en-US" sz="1900" b="0" dirty="0">
                <a:solidFill>
                  <a:srgbClr val="E6EDF3"/>
                </a:solidFill>
                <a:latin typeface="Segoe UI"/>
                <a:ea typeface="Segoe UI"/>
              </a:rPr>
              <a:t>07  Active Shipments &amp; Fleet</a:t>
            </a:r>
          </a:p>
          <a:p>
            <a:pPr>
              <a:lnSpc>
                <a:spcPct val="200000"/>
              </a:lnSpc>
            </a:pPr>
            <a:r>
              <a:rPr lang="en-US" sz="1900" b="0" dirty="0">
                <a:solidFill>
                  <a:srgbClr val="E6EDF3"/>
                </a:solidFill>
                <a:latin typeface="Segoe UI"/>
                <a:ea typeface="Segoe UI"/>
              </a:rPr>
              <a:t>08  Alerts &amp; Disruptions</a:t>
            </a:r>
          </a:p>
          <a:p>
            <a:pPr>
              <a:lnSpc>
                <a:spcPct val="200000"/>
              </a:lnSpc>
            </a:pPr>
            <a:r>
              <a:rPr lang="en-US" sz="1900" b="0" dirty="0">
                <a:solidFill>
                  <a:srgbClr val="E6EDF3"/>
                </a:solidFill>
                <a:latin typeface="Segoe UI"/>
                <a:ea typeface="Segoe UI"/>
              </a:rPr>
              <a:t>09  Tech Stack</a:t>
            </a:r>
          </a:p>
          <a:p>
            <a:pPr>
              <a:lnSpc>
                <a:spcPct val="200000"/>
              </a:lnSpc>
            </a:pPr>
            <a:r>
              <a:rPr lang="en-US" sz="1900" b="0" dirty="0">
                <a:solidFill>
                  <a:srgbClr val="E6EDF3"/>
                </a:solidFill>
                <a:latin typeface="Segoe UI"/>
                <a:ea typeface="Segoe UI"/>
              </a:rPr>
              <a:t>10  Demo Walkthrough</a:t>
            </a:r>
          </a:p>
          <a:p>
            <a:pPr>
              <a:lnSpc>
                <a:spcPct val="200000"/>
              </a:lnSpc>
            </a:pPr>
            <a:r>
              <a:rPr lang="en-US" sz="1900" b="0" dirty="0">
                <a:solidFill>
                  <a:srgbClr val="E6EDF3"/>
                </a:solidFill>
                <a:latin typeface="Segoe UI"/>
                <a:ea typeface="Segoe UI"/>
              </a:rPr>
              <a:t>11  Performance &amp; Metrics</a:t>
            </a:r>
          </a:p>
          <a:p>
            <a:pPr>
              <a:lnSpc>
                <a:spcPct val="200000"/>
              </a:lnSpc>
            </a:pPr>
            <a:r>
              <a:rPr lang="en-US" sz="1900" b="0" dirty="0">
                <a:solidFill>
                  <a:srgbClr val="E6EDF3"/>
                </a:solidFill>
                <a:latin typeface="Segoe UI"/>
                <a:ea typeface="Segoe UI"/>
              </a:rPr>
              <a:t>12  Known Limitations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20" name="TopBar"/>
          <p:cNvSpPr txBox="1"/>
          <p:nvPr/>
        </p:nvSpPr>
        <p:spPr>
          <a:xfrm>
            <a:off x="0" y="0"/>
            <a:ext cx="12193200" cy="198000"/>
          </a:xfrm>
          <a:prstGeom prst="rect">
            <a:avLst/>
          </a:prstGeom>
          <a:solidFill>
            <a:srgbClr val="2F81F7"/>
          </a:solidFill>
        </p:spPr>
        <p:txBody>
          <a:bodyPr/>
          <a:lstStyle/>
          <a:p>
            <a:endParaRPr lang="en-US">
              <a:solidFill>
                <a:srgbClr val="2F81F7"/>
              </a:solidFill>
            </a:endParaRPr>
          </a:p>
        </p:txBody>
      </p:sp>
      <p:sp>
        <p:nvSpPr>
          <p:cNvPr id="100021" name="SlideNum"/>
          <p:cNvSpPr txBox="1"/>
          <p:nvPr/>
        </p:nvSpPr>
        <p:spPr>
          <a:xfrm>
            <a:off x="10800000" y="288000"/>
            <a:ext cx="108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0">
                <a:solidFill>
                  <a:srgbClr val="57606A"/>
                </a:solidFill>
                <a:latin typeface="Segoe UI"/>
                <a:ea typeface="Segoe UI"/>
              </a:rPr>
              <a:t>03</a:t>
            </a:r>
          </a:p>
        </p:txBody>
      </p:sp>
      <p:sp>
        <p:nvSpPr>
          <p:cNvPr id="100022" name="Title"/>
          <p:cNvSpPr txBox="1"/>
          <p:nvPr/>
        </p:nvSpPr>
        <p:spPr>
          <a:xfrm>
            <a:off x="720000" y="432000"/>
            <a:ext cx="9360000" cy="50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FFFFFF"/>
                </a:solidFill>
                <a:latin typeface="Segoe UI"/>
                <a:ea typeface="Segoe UI"/>
              </a:rPr>
              <a:t>Problem Statement</a:t>
            </a:r>
          </a:p>
        </p:txBody>
      </p:sp>
      <p:sp>
        <p:nvSpPr>
          <p:cNvPr id="100023" name="Context"/>
          <p:cNvSpPr txBox="1"/>
          <p:nvPr/>
        </p:nvSpPr>
        <p:spPr>
          <a:xfrm>
            <a:off x="720000" y="1152000"/>
            <a:ext cx="1008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 b="1">
                <a:solidFill>
                  <a:srgbClr val="2F81F7"/>
                </a:solidFill>
                <a:latin typeface="Segoe UI"/>
                <a:ea typeface="Segoe UI"/>
              </a:rPr>
              <a:t>The Challenge</a:t>
            </a:r>
          </a:p>
        </p:txBody>
      </p:sp>
      <p:sp>
        <p:nvSpPr>
          <p:cNvPr id="100024" name="Body"/>
          <p:cNvSpPr txBox="1"/>
          <p:nvPr/>
        </p:nvSpPr>
        <p:spPr>
          <a:xfrm>
            <a:off x="720000" y="1512000"/>
            <a:ext cx="10620000" cy="32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0">
                <a:solidFill>
                  <a:srgbClr val="E6EDF3"/>
                </a:solidFill>
                <a:latin typeface="Segoe UI"/>
                <a:ea typeface="Segoe UI"/>
              </a:rPr>
              <a:t>Supply chain and cold-chain logistics teams managing temperature-sensitive shipments — dairy, pharma, frozen goods, seafood — face three critical gaps:</a:t>
            </a:r>
          </a:p>
          <a:p>
            <a:endParaRPr lang="en-US" sz="1800" b="0">
              <a:solidFill>
                <a:srgbClr val="E6EDF3"/>
              </a:solidFill>
              <a:latin typeface="Segoe UI"/>
              <a:ea typeface="Segoe UI"/>
            </a:endParaRPr>
          </a:p>
          <a:p>
            <a:r>
              <a:rPr lang="en-US" sz="1800" b="0">
                <a:solidFill>
                  <a:srgbClr val="E6EDF3"/>
                </a:solidFill>
                <a:latin typeface="Segoe UI"/>
                <a:ea typeface="Segoe UI"/>
              </a:rPr>
              <a:t>  Blind spots:  No unified real-time view of IoT sensor readings across active shipments.</a:t>
            </a:r>
          </a:p>
          <a:p>
            <a:endParaRPr lang="en-US" sz="1800" b="0">
              <a:solidFill>
                <a:srgbClr val="E6EDF3"/>
              </a:solidFill>
              <a:latin typeface="Segoe UI"/>
              <a:ea typeface="Segoe UI"/>
            </a:endParaRPr>
          </a:p>
          <a:p>
            <a:r>
              <a:rPr lang="en-US" sz="1800" b="0">
                <a:solidFill>
                  <a:srgbClr val="E6EDF3"/>
                </a:solidFill>
                <a:latin typeface="Segoe UI"/>
                <a:ea typeface="Segoe UI"/>
              </a:rPr>
              <a:t>  Slow response:  Temperature excursions (reefer failures, ambient breaches) are detected minutes or hours too late, causing product spoilage and compliance failures.</a:t>
            </a:r>
          </a:p>
          <a:p>
            <a:endParaRPr lang="en-US" sz="1800" b="0">
              <a:solidFill>
                <a:srgbClr val="E6EDF3"/>
              </a:solidFill>
              <a:latin typeface="Segoe UI"/>
              <a:ea typeface="Segoe UI"/>
            </a:endParaRPr>
          </a:p>
          <a:p>
            <a:r>
              <a:rPr lang="en-US" sz="1800" b="0">
                <a:solidFill>
                  <a:srgbClr val="E6EDF3"/>
                </a:solidFill>
                <a:latin typeface="Segoe UI"/>
                <a:ea typeface="Segoe UI"/>
              </a:rPr>
              <a:t>  Fragmented tools:  Fleet idle time, shipment delays, port congestion, and disruption events are tracked in disconnected spreadsheets and emails — not a live dashboard.</a:t>
            </a:r>
          </a:p>
        </p:txBody>
      </p:sp>
      <p:sp>
        <p:nvSpPr>
          <p:cNvPr id="100025" name="Impact"/>
          <p:cNvSpPr txBox="1"/>
          <p:nvPr/>
        </p:nvSpPr>
        <p:spPr>
          <a:xfrm>
            <a:off x="720000" y="5040000"/>
            <a:ext cx="106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500" b="1">
                <a:solidFill>
                  <a:srgbClr val="F85149"/>
                </a:solidFill>
                <a:latin typeface="Segoe UI"/>
                <a:ea typeface="Segoe UI"/>
              </a:rPr>
              <a:t>Impact:  Product losses  |  Compliance violations  |  Delayed decision-making  |  Fleet underutilisation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26" name="TopBar"/>
          <p:cNvSpPr txBox="1"/>
          <p:nvPr/>
        </p:nvSpPr>
        <p:spPr>
          <a:xfrm>
            <a:off x="0" y="0"/>
            <a:ext cx="12193200" cy="198000"/>
          </a:xfrm>
          <a:prstGeom prst="rect">
            <a:avLst/>
          </a:prstGeom>
          <a:solidFill>
            <a:srgbClr val="2F81F7"/>
          </a:solidFill>
        </p:spPr>
        <p:txBody>
          <a:bodyPr/>
          <a:lstStyle/>
          <a:p>
            <a:endParaRPr lang="en-US">
              <a:solidFill>
                <a:srgbClr val="2F81F7"/>
              </a:solidFill>
            </a:endParaRPr>
          </a:p>
        </p:txBody>
      </p:sp>
      <p:sp>
        <p:nvSpPr>
          <p:cNvPr id="100027" name="SlideNum"/>
          <p:cNvSpPr txBox="1"/>
          <p:nvPr/>
        </p:nvSpPr>
        <p:spPr>
          <a:xfrm>
            <a:off x="10800000" y="288000"/>
            <a:ext cx="108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0">
                <a:solidFill>
                  <a:srgbClr val="57606A"/>
                </a:solidFill>
                <a:latin typeface="Segoe UI"/>
                <a:ea typeface="Segoe UI"/>
              </a:rPr>
              <a:t>04</a:t>
            </a:r>
          </a:p>
        </p:txBody>
      </p:sp>
      <p:sp>
        <p:nvSpPr>
          <p:cNvPr id="100028" name="Title"/>
          <p:cNvSpPr txBox="1"/>
          <p:nvPr/>
        </p:nvSpPr>
        <p:spPr>
          <a:xfrm>
            <a:off x="720000" y="432000"/>
            <a:ext cx="9360000" cy="50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FFFFFF"/>
                </a:solidFill>
                <a:latin typeface="Segoe UI"/>
                <a:ea typeface="Segoe UI"/>
              </a:rPr>
              <a:t>Our Solution</a:t>
            </a:r>
          </a:p>
        </p:txBody>
      </p:sp>
      <p:sp>
        <p:nvSpPr>
          <p:cNvPr id="100029" name="SolutionLabel"/>
          <p:cNvSpPr txBox="1"/>
          <p:nvPr/>
        </p:nvSpPr>
        <p:spPr>
          <a:xfrm>
            <a:off x="720000" y="1152000"/>
            <a:ext cx="1008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 b="1">
                <a:solidFill>
                  <a:srgbClr val="2F81F7"/>
                </a:solidFill>
                <a:latin typeface="Segoe UI"/>
                <a:ea typeface="Segoe UI"/>
              </a:rPr>
              <a:t>What We Built</a:t>
            </a:r>
          </a:p>
        </p:txBody>
      </p:sp>
      <p:sp>
        <p:nvSpPr>
          <p:cNvPr id="100030" name="SolutionDesc"/>
          <p:cNvSpPr txBox="1"/>
          <p:nvPr/>
        </p:nvSpPr>
        <p:spPr>
          <a:xfrm>
            <a:off x="720000" y="1476000"/>
            <a:ext cx="1062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900" b="0">
                <a:solidFill>
                  <a:srgbClr val="E6EDF3"/>
                </a:solidFill>
                <a:latin typeface="Segoe UI"/>
                <a:ea typeface="Segoe UI"/>
              </a:rPr>
              <a:t>RapidDeploy is a real-time supply chain and cold-chain monitoring dashboard. It simulates a live IoT sensor network across 10 active shipments and provides a unified command centre for operations teams.</a:t>
            </a:r>
          </a:p>
        </p:txBody>
      </p:sp>
      <p:sp>
        <p:nvSpPr>
          <p:cNvPr id="100031" name="Col1"/>
          <p:cNvSpPr txBox="1"/>
          <p:nvPr/>
        </p:nvSpPr>
        <p:spPr>
          <a:xfrm>
            <a:off x="720000" y="2520000"/>
            <a:ext cx="5040000" cy="2880000"/>
          </a:xfrm>
          <a:prstGeom prst="rect">
            <a:avLst/>
          </a:prstGeom>
          <a:solidFill>
            <a:srgbClr val="161B22"/>
          </a:solidFill>
        </p:spPr>
        <p:txBody>
          <a:bodyPr/>
          <a:lstStyle/>
          <a:p>
            <a:r>
              <a:rPr lang="en-US" sz="1600" b="0">
                <a:solidFill>
                  <a:srgbClr val="E6EDF3"/>
                </a:solidFill>
                <a:latin typeface="Segoe UI"/>
                <a:ea typeface="Segoe UI"/>
              </a:rPr>
              <a:t>Real-time Visibility</a:t>
            </a:r>
          </a:p>
          <a:p>
            <a:r>
              <a:rPr lang="en-US" sz="1600" b="0">
                <a:solidFill>
                  <a:srgbClr val="E6EDF3"/>
                </a:solidFill>
                <a:latin typeface="Segoe UI"/>
                <a:ea typeface="Segoe UI"/>
              </a:rPr>
              <a:t>IoT readings streamed over WebSocket every 5 seconds — temperature, humidity, battery, GPS location per shipment.</a:t>
            </a:r>
          </a:p>
          <a:p>
            <a:endParaRPr lang="en-US" sz="1600" b="0">
              <a:solidFill>
                <a:srgbClr val="E6EDF3"/>
              </a:solidFill>
              <a:latin typeface="Segoe UI"/>
              <a:ea typeface="Segoe UI"/>
            </a:endParaRPr>
          </a:p>
          <a:p>
            <a:r>
              <a:rPr lang="en-US" sz="1600" b="0">
                <a:solidFill>
                  <a:srgbClr val="E6EDF3"/>
                </a:solidFill>
                <a:latin typeface="Segoe UI"/>
                <a:ea typeface="Segoe UI"/>
              </a:rPr>
              <a:t>Instant Alerts</a:t>
            </a:r>
          </a:p>
          <a:p>
            <a:r>
              <a:rPr lang="en-US" sz="1600" b="0">
                <a:solidFill>
                  <a:srgbClr val="E6EDF3"/>
                </a:solidFill>
                <a:latin typeface="Segoe UI"/>
                <a:ea typeface="Segoe UI"/>
              </a:rPr>
              <a:t>Automatic temperature excursion detection with severity classification and one-click acknowledgement.</a:t>
            </a:r>
          </a:p>
        </p:txBody>
      </p:sp>
      <p:sp>
        <p:nvSpPr>
          <p:cNvPr id="100032" name="Col2"/>
          <p:cNvSpPr txBox="1"/>
          <p:nvPr/>
        </p:nvSpPr>
        <p:spPr>
          <a:xfrm>
            <a:off x="6300000" y="2520000"/>
            <a:ext cx="5040000" cy="2880000"/>
          </a:xfrm>
          <a:prstGeom prst="rect">
            <a:avLst/>
          </a:prstGeom>
          <a:solidFill>
            <a:srgbClr val="161B22"/>
          </a:solidFill>
        </p:spPr>
        <p:txBody>
          <a:bodyPr/>
          <a:lstStyle/>
          <a:p>
            <a:r>
              <a:rPr lang="en-US" sz="1600" b="0">
                <a:solidFill>
                  <a:srgbClr val="E6EDF3"/>
                </a:solidFill>
                <a:latin typeface="Segoe UI"/>
                <a:ea typeface="Segoe UI"/>
              </a:rPr>
              <a:t>Fleet Intelligence</a:t>
            </a:r>
          </a:p>
          <a:p>
            <a:r>
              <a:rPr lang="en-US" sz="1600" b="0">
                <a:solidFill>
                  <a:srgbClr val="E6EDF3"/>
                </a:solidFill>
                <a:latin typeface="Segoe UI"/>
                <a:ea typeface="Segoe UI"/>
              </a:rPr>
              <a:t>Live fleet status across 15 vehicles — active, idle, maintenance, offline — with fuel levels and mileage.</a:t>
            </a:r>
          </a:p>
          <a:p>
            <a:endParaRPr lang="en-US" sz="1600" b="0">
              <a:solidFill>
                <a:srgbClr val="E6EDF3"/>
              </a:solidFill>
              <a:latin typeface="Segoe UI"/>
              <a:ea typeface="Segoe UI"/>
            </a:endParaRPr>
          </a:p>
          <a:p>
            <a:r>
              <a:rPr lang="en-US" sz="1600" b="0">
                <a:solidFill>
                  <a:srgbClr val="E6EDF3"/>
                </a:solidFill>
                <a:latin typeface="Segoe UI"/>
                <a:ea typeface="Segoe UI"/>
              </a:rPr>
              <a:t>Disruption Tracking</a:t>
            </a:r>
          </a:p>
          <a:p>
            <a:r>
              <a:rPr lang="en-US" sz="1600" b="0">
                <a:solidFill>
                  <a:srgbClr val="E6EDF3"/>
                </a:solidFill>
                <a:latin typeface="Segoe UI"/>
                <a:ea typeface="Segoe UI"/>
              </a:rPr>
              <a:t>Supply-chain events (weather, port congestion, breakdowns) with impact scores and resolution timelines.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3" name="TopBar"/>
          <p:cNvSpPr txBox="1"/>
          <p:nvPr/>
        </p:nvSpPr>
        <p:spPr>
          <a:xfrm>
            <a:off x="0" y="0"/>
            <a:ext cx="12193200" cy="198000"/>
          </a:xfrm>
          <a:prstGeom prst="rect">
            <a:avLst/>
          </a:prstGeom>
          <a:solidFill>
            <a:srgbClr val="2F81F7"/>
          </a:solidFill>
        </p:spPr>
        <p:txBody>
          <a:bodyPr/>
          <a:lstStyle/>
          <a:p>
            <a:endParaRPr lang="en-US">
              <a:solidFill>
                <a:srgbClr val="2F81F7"/>
              </a:solidFill>
            </a:endParaRPr>
          </a:p>
        </p:txBody>
      </p:sp>
      <p:sp>
        <p:nvSpPr>
          <p:cNvPr id="100034" name="SlideNum"/>
          <p:cNvSpPr txBox="1"/>
          <p:nvPr/>
        </p:nvSpPr>
        <p:spPr>
          <a:xfrm>
            <a:off x="10800000" y="288000"/>
            <a:ext cx="108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0">
                <a:solidFill>
                  <a:srgbClr val="57606A"/>
                </a:solidFill>
                <a:latin typeface="Segoe UI"/>
                <a:ea typeface="Segoe UI"/>
              </a:rPr>
              <a:t>05</a:t>
            </a:r>
          </a:p>
        </p:txBody>
      </p:sp>
      <p:sp>
        <p:nvSpPr>
          <p:cNvPr id="100035" name="Title"/>
          <p:cNvSpPr txBox="1"/>
          <p:nvPr/>
        </p:nvSpPr>
        <p:spPr>
          <a:xfrm>
            <a:off x="720000" y="432000"/>
            <a:ext cx="9360000" cy="50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FFFFFF"/>
                </a:solidFill>
                <a:latin typeface="Segoe UI"/>
                <a:ea typeface="Segoe UI"/>
              </a:rPr>
              <a:t>System Architecture</a:t>
            </a:r>
          </a:p>
        </p:txBody>
      </p:sp>
      <p:sp>
        <p:nvSpPr>
          <p:cNvPr id="100036" name="Layer1Label"/>
          <p:cNvSpPr txBox="1"/>
          <p:nvPr/>
        </p:nvSpPr>
        <p:spPr>
          <a:xfrm>
            <a:off x="720000" y="1188000"/>
            <a:ext cx="10620000" cy="27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 b="1">
                <a:solidFill>
                  <a:srgbClr val="2F81F7"/>
                </a:solidFill>
                <a:latin typeface="Segoe UI"/>
                <a:ea typeface="Segoe UI"/>
              </a:rPr>
              <a:t>FRONTEND  (Vanilla HTML / CSS / JS  +  ECharts  +  Leaflet.js)</a:t>
            </a:r>
          </a:p>
        </p:txBody>
      </p:sp>
      <p:sp>
        <p:nvSpPr>
          <p:cNvPr id="100037" name="Layer1Box"/>
          <p:cNvSpPr txBox="1"/>
          <p:nvPr/>
        </p:nvSpPr>
        <p:spPr>
          <a:xfrm>
            <a:off x="720000" y="1476000"/>
            <a:ext cx="10620000" cy="432000"/>
          </a:xfrm>
          <a:prstGeom prst="rect">
            <a:avLst/>
          </a:prstGeom>
          <a:solidFill>
            <a:srgbClr val="1C2128"/>
          </a:solidFill>
        </p:spPr>
        <p:txBody>
          <a:bodyPr/>
          <a:lstStyle/>
          <a:p>
            <a:r>
              <a:rPr lang="en-US" sz="1500" b="0">
                <a:solidFill>
                  <a:srgbClr val="E6EDF3"/>
                </a:solidFill>
                <a:latin typeface="Segoe UI"/>
                <a:ea typeface="Segoe UI"/>
              </a:rPr>
              <a:t>Overview Tab     Active Shipments     Fleet Assets     Alerts     Disruptions     Live Telemetry</a:t>
            </a:r>
          </a:p>
        </p:txBody>
      </p:sp>
      <p:sp>
        <p:nvSpPr>
          <p:cNvPr id="100038" name="Arrow1"/>
          <p:cNvSpPr txBox="1"/>
          <p:nvPr/>
        </p:nvSpPr>
        <p:spPr>
          <a:xfrm>
            <a:off x="5040000" y="1980000"/>
            <a:ext cx="180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 b="0">
                <a:solidFill>
                  <a:srgbClr val="57606A"/>
                </a:solidFill>
                <a:latin typeface="Segoe UI"/>
                <a:ea typeface="Segoe UI"/>
              </a:rPr>
              <a:t>REST  /  WebSocket</a:t>
            </a:r>
          </a:p>
        </p:txBody>
      </p:sp>
      <p:sp>
        <p:nvSpPr>
          <p:cNvPr id="100039" name="Layer2Label"/>
          <p:cNvSpPr txBox="1"/>
          <p:nvPr/>
        </p:nvSpPr>
        <p:spPr>
          <a:xfrm>
            <a:off x="720000" y="2304000"/>
            <a:ext cx="10620000" cy="27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 b="1">
                <a:solidFill>
                  <a:srgbClr val="3FB950"/>
                </a:solidFill>
                <a:latin typeface="Segoe UI"/>
                <a:ea typeface="Segoe UI"/>
              </a:rPr>
              <a:t>BACKEND  (FastAPI  +  Pydantic  +  asyncio)</a:t>
            </a:r>
          </a:p>
        </p:txBody>
      </p:sp>
      <p:sp>
        <p:nvSpPr>
          <p:cNvPr id="100040" name="Layer2Box"/>
          <p:cNvSpPr txBox="1"/>
          <p:nvPr/>
        </p:nvSpPr>
        <p:spPr>
          <a:xfrm>
            <a:off x="720000" y="2592000"/>
            <a:ext cx="10620000" cy="576000"/>
          </a:xfrm>
          <a:prstGeom prst="rect">
            <a:avLst/>
          </a:prstGeom>
          <a:solidFill>
            <a:srgbClr val="1C2128"/>
          </a:solidFill>
        </p:spPr>
        <p:txBody>
          <a:bodyPr/>
          <a:lstStyle/>
          <a:p>
            <a:r>
              <a:rPr lang="en-US" sz="1400" b="0">
                <a:solidFill>
                  <a:srgbClr val="E6EDF3"/>
                </a:solidFill>
                <a:latin typeface="Segoe UI"/>
                <a:ea typeface="Segoe UI"/>
              </a:rPr>
              <a:t>GET /api/shipments   GET /api/fleet   GET /api/alerts   POST /api/alerts/{id}/acknowledge</a:t>
            </a:r>
          </a:p>
          <a:p>
            <a:r>
              <a:rPr lang="en-US" sz="1400" b="0">
                <a:solidFill>
                  <a:srgbClr val="E6EDF3"/>
                </a:solidFill>
                <a:latin typeface="Segoe UI"/>
                <a:ea typeface="Segoe UI"/>
              </a:rPr>
              <a:t>GET /api/disruptions   GET /api/analytics/summary   WS  /ws/telemetry</a:t>
            </a:r>
          </a:p>
        </p:txBody>
      </p:sp>
      <p:sp>
        <p:nvSpPr>
          <p:cNvPr id="100041" name="Arrow2"/>
          <p:cNvSpPr txBox="1"/>
          <p:nvPr/>
        </p:nvSpPr>
        <p:spPr>
          <a:xfrm>
            <a:off x="5040000" y="3240000"/>
            <a:ext cx="180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 b="0">
                <a:solidFill>
                  <a:srgbClr val="57606A"/>
                </a:solidFill>
                <a:latin typeface="Segoe UI"/>
                <a:ea typeface="Segoe UI"/>
              </a:rPr>
              <a:t>in-memory data store</a:t>
            </a:r>
          </a:p>
        </p:txBody>
      </p:sp>
      <p:sp>
        <p:nvSpPr>
          <p:cNvPr id="100042" name="Layer3Label"/>
          <p:cNvSpPr txBox="1"/>
          <p:nvPr/>
        </p:nvSpPr>
        <p:spPr>
          <a:xfrm>
            <a:off x="720000" y="3528000"/>
            <a:ext cx="10620000" cy="27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 b="1">
                <a:solidFill>
                  <a:srgbClr val="A371F7"/>
                </a:solidFill>
                <a:latin typeface="Segoe UI"/>
                <a:ea typeface="Segoe UI"/>
              </a:rPr>
              <a:t>DATA LAYER  (In-memory seed data  +  background asyncio tasks)</a:t>
            </a:r>
          </a:p>
        </p:txBody>
      </p:sp>
      <p:sp>
        <p:nvSpPr>
          <p:cNvPr id="100043" name="Layer3Box"/>
          <p:cNvSpPr txBox="1"/>
          <p:nvPr/>
        </p:nvSpPr>
        <p:spPr>
          <a:xfrm>
            <a:off x="720000" y="3816000"/>
            <a:ext cx="10620000" cy="576000"/>
          </a:xfrm>
          <a:prstGeom prst="rect">
            <a:avLst/>
          </a:prstGeom>
          <a:solidFill>
            <a:srgbClr val="1C2128"/>
          </a:solidFill>
        </p:spPr>
        <p:txBody>
          <a:bodyPr/>
          <a:lstStyle/>
          <a:p>
            <a:r>
              <a:rPr lang="en-US" sz="1400" b="0">
                <a:solidFill>
                  <a:srgbClr val="E6EDF3"/>
                </a:solidFill>
                <a:latin typeface="Segoe UI"/>
                <a:ea typeface="Segoe UI"/>
              </a:rPr>
              <a:t>_build_shipments()   _build_fleet()   _build_alerts()   _build_disruptions()   _telemetry_emitter() background task — pushes every 5 s</a:t>
            </a:r>
          </a:p>
        </p:txBody>
      </p:sp>
      <p:sp>
        <p:nvSpPr>
          <p:cNvPr id="100044" name="WSNote"/>
          <p:cNvSpPr txBox="1"/>
          <p:nvPr/>
        </p:nvSpPr>
        <p:spPr>
          <a:xfrm>
            <a:off x="720000" y="4680000"/>
            <a:ext cx="106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0">
                <a:solidFill>
                  <a:srgbClr val="D29922"/>
                </a:solidFill>
                <a:latin typeface="Segoe UI"/>
                <a:ea typeface="Segoe UI"/>
              </a:rPr>
              <a:t>WebSocket broadcasts IoT readings to ALL connected browser clients simultaneously via ConnectionManager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5" name="TopBar"/>
          <p:cNvSpPr txBox="1"/>
          <p:nvPr/>
        </p:nvSpPr>
        <p:spPr>
          <a:xfrm>
            <a:off x="0" y="0"/>
            <a:ext cx="12193200" cy="198000"/>
          </a:xfrm>
          <a:prstGeom prst="rect">
            <a:avLst/>
          </a:prstGeom>
          <a:solidFill>
            <a:srgbClr val="2F81F7"/>
          </a:solidFill>
        </p:spPr>
        <p:txBody>
          <a:bodyPr/>
          <a:lstStyle/>
          <a:p>
            <a:endParaRPr lang="en-US">
              <a:solidFill>
                <a:srgbClr val="2F81F7"/>
              </a:solidFill>
            </a:endParaRPr>
          </a:p>
        </p:txBody>
      </p:sp>
      <p:sp>
        <p:nvSpPr>
          <p:cNvPr id="100046" name="SlideNum"/>
          <p:cNvSpPr txBox="1"/>
          <p:nvPr/>
        </p:nvSpPr>
        <p:spPr>
          <a:xfrm>
            <a:off x="10800000" y="288000"/>
            <a:ext cx="108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0">
                <a:solidFill>
                  <a:srgbClr val="57606A"/>
                </a:solidFill>
                <a:latin typeface="Segoe UI"/>
                <a:ea typeface="Segoe UI"/>
              </a:rPr>
              <a:t>06</a:t>
            </a:r>
          </a:p>
        </p:txBody>
      </p:sp>
      <p:sp>
        <p:nvSpPr>
          <p:cNvPr id="100047" name="Title"/>
          <p:cNvSpPr txBox="1"/>
          <p:nvPr/>
        </p:nvSpPr>
        <p:spPr>
          <a:xfrm>
            <a:off x="720000" y="432000"/>
            <a:ext cx="9360000" cy="50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FFFFFF"/>
                </a:solidFill>
                <a:latin typeface="Segoe UI"/>
                <a:ea typeface="Segoe UI"/>
              </a:rPr>
              <a:t>Key Features  (1 of 2)</a:t>
            </a:r>
          </a:p>
        </p:txBody>
      </p:sp>
      <p:sp>
        <p:nvSpPr>
          <p:cNvPr id="100048" name="F1Num"/>
          <p:cNvSpPr txBox="1"/>
          <p:nvPr/>
        </p:nvSpPr>
        <p:spPr>
          <a:xfrm>
            <a:off x="720000" y="1188000"/>
            <a:ext cx="72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200" b="1">
                <a:solidFill>
                  <a:srgbClr val="2F81F7"/>
                </a:solidFill>
                <a:latin typeface="Segoe UI"/>
                <a:ea typeface="Segoe UI"/>
              </a:rPr>
              <a:t>01</a:t>
            </a:r>
          </a:p>
        </p:txBody>
      </p:sp>
      <p:sp>
        <p:nvSpPr>
          <p:cNvPr id="100049" name="F1Title"/>
          <p:cNvSpPr txBox="1"/>
          <p:nvPr/>
        </p:nvSpPr>
        <p:spPr>
          <a:xfrm>
            <a:off x="1620000" y="1188000"/>
            <a:ext cx="900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FFFFFF"/>
                </a:solidFill>
                <a:latin typeface="Segoe UI"/>
                <a:ea typeface="Segoe UI"/>
              </a:rPr>
              <a:t>Real-time IoT Telemetry Streaming</a:t>
            </a:r>
          </a:p>
        </p:txBody>
      </p:sp>
      <p:sp>
        <p:nvSpPr>
          <p:cNvPr id="100050" name="F1Body"/>
          <p:cNvSpPr txBox="1"/>
          <p:nvPr/>
        </p:nvSpPr>
        <p:spPr>
          <a:xfrm>
            <a:off x="1620000" y="1584000"/>
            <a:ext cx="900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 b="0">
                <a:solidFill>
                  <a:srgbClr val="8B949E"/>
                </a:solidFill>
                <a:latin typeface="Segoe UI"/>
                <a:ea typeface="Segoe UI"/>
              </a:rPr>
              <a:t>WebSocket endpoint /ws/telemetry broadcasts simulated sensor readings every 5 seconds to all connected clients. The Live Telemetry tab pre-seeds instantly from /api/shipments then continues with live WS updates — live temperature line chart + category donut chart refresh on every push.</a:t>
            </a:r>
          </a:p>
        </p:txBody>
      </p:sp>
      <p:sp>
        <p:nvSpPr>
          <p:cNvPr id="100051" name="F2Num"/>
          <p:cNvSpPr txBox="1"/>
          <p:nvPr/>
        </p:nvSpPr>
        <p:spPr>
          <a:xfrm>
            <a:off x="720000" y="2664000"/>
            <a:ext cx="72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200" b="1">
                <a:solidFill>
                  <a:srgbClr val="3FB950"/>
                </a:solidFill>
                <a:latin typeface="Segoe UI"/>
                <a:ea typeface="Segoe UI"/>
              </a:rPr>
              <a:t>02</a:t>
            </a:r>
          </a:p>
        </p:txBody>
      </p:sp>
      <p:sp>
        <p:nvSpPr>
          <p:cNvPr id="100052" name="F2Title"/>
          <p:cNvSpPr txBox="1"/>
          <p:nvPr/>
        </p:nvSpPr>
        <p:spPr>
          <a:xfrm>
            <a:off x="1620000" y="2664000"/>
            <a:ext cx="900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FFFFFF"/>
                </a:solidFill>
                <a:latin typeface="Segoe UI"/>
                <a:ea typeface="Segoe UI"/>
              </a:rPr>
              <a:t>Temperature Excursion Detection</a:t>
            </a:r>
          </a:p>
        </p:txBody>
      </p:sp>
      <p:sp>
        <p:nvSpPr>
          <p:cNvPr id="100053" name="F2Body"/>
          <p:cNvSpPr txBox="1"/>
          <p:nvPr/>
        </p:nvSpPr>
        <p:spPr>
          <a:xfrm>
            <a:off x="1620000" y="3060000"/>
            <a:ext cx="900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 b="0">
                <a:solidFill>
                  <a:srgbClr val="8B949E"/>
                </a:solidFill>
                <a:latin typeface="Segoe UI"/>
                <a:ea typeface="Segoe UI"/>
              </a:rPr>
              <a:t>Per-category thresholds: frozen (-25 to -15 C), refrigerated (2 to 8 C), pharma (2 to 8 C), ambient (15 to 30 C). Excursions auto-generate CRITICAL or WARNING alerts with duration tracking. One-click acknowledgement updates state in real time.</a:t>
            </a:r>
          </a:p>
        </p:txBody>
      </p:sp>
      <p:sp>
        <p:nvSpPr>
          <p:cNvPr id="100054" name="F3Num"/>
          <p:cNvSpPr txBox="1"/>
          <p:nvPr/>
        </p:nvSpPr>
        <p:spPr>
          <a:xfrm>
            <a:off x="720000" y="4140000"/>
            <a:ext cx="72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200" b="1">
                <a:solidFill>
                  <a:srgbClr val="A371F7"/>
                </a:solidFill>
                <a:latin typeface="Segoe UI"/>
                <a:ea typeface="Segoe UI"/>
              </a:rPr>
              <a:t>03</a:t>
            </a:r>
          </a:p>
        </p:txBody>
      </p:sp>
      <p:sp>
        <p:nvSpPr>
          <p:cNvPr id="100055" name="F3Title"/>
          <p:cNvSpPr txBox="1"/>
          <p:nvPr/>
        </p:nvSpPr>
        <p:spPr>
          <a:xfrm>
            <a:off x="1620000" y="4140000"/>
            <a:ext cx="900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FFFFFF"/>
                </a:solidFill>
                <a:latin typeface="Segoe UI"/>
                <a:ea typeface="Segoe UI"/>
              </a:rPr>
              <a:t>Sortable Active Shipments Table</a:t>
            </a:r>
          </a:p>
        </p:txBody>
      </p:sp>
      <p:sp>
        <p:nvSpPr>
          <p:cNvPr id="100056" name="F3Body"/>
          <p:cNvSpPr txBox="1"/>
          <p:nvPr/>
        </p:nvSpPr>
        <p:spPr>
          <a:xfrm>
            <a:off x="1620000" y="4536000"/>
            <a:ext cx="900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 b="0">
                <a:solidFill>
                  <a:srgbClr val="8B949E"/>
                </a:solidFill>
                <a:latin typeface="Segoe UI"/>
                <a:ea typeface="Segoe UI"/>
              </a:rPr>
              <a:t>Click any of 9 column headers — ID, Product, Category, Carrier, Status, Temperature, Progress, ETA, Excursion — to sort ascending or descending. Sort arrows update in real time. Filter by status, category, or excursion-only without re-fetching.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57" name="TopBar"/>
          <p:cNvSpPr txBox="1"/>
          <p:nvPr/>
        </p:nvSpPr>
        <p:spPr>
          <a:xfrm>
            <a:off x="0" y="0"/>
            <a:ext cx="12193200" cy="198000"/>
          </a:xfrm>
          <a:prstGeom prst="rect">
            <a:avLst/>
          </a:prstGeom>
          <a:solidFill>
            <a:srgbClr val="2F81F7"/>
          </a:solidFill>
        </p:spPr>
        <p:txBody>
          <a:bodyPr/>
          <a:lstStyle/>
          <a:p>
            <a:endParaRPr lang="en-US">
              <a:solidFill>
                <a:srgbClr val="2F81F7"/>
              </a:solidFill>
            </a:endParaRPr>
          </a:p>
        </p:txBody>
      </p:sp>
      <p:sp>
        <p:nvSpPr>
          <p:cNvPr id="100058" name="SlideNum"/>
          <p:cNvSpPr txBox="1"/>
          <p:nvPr/>
        </p:nvSpPr>
        <p:spPr>
          <a:xfrm>
            <a:off x="10800000" y="288000"/>
            <a:ext cx="108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0">
                <a:solidFill>
                  <a:srgbClr val="57606A"/>
                </a:solidFill>
                <a:latin typeface="Segoe UI"/>
                <a:ea typeface="Segoe UI"/>
              </a:rPr>
              <a:t>07</a:t>
            </a:r>
          </a:p>
        </p:txBody>
      </p:sp>
      <p:sp>
        <p:nvSpPr>
          <p:cNvPr id="100059" name="Title"/>
          <p:cNvSpPr txBox="1"/>
          <p:nvPr/>
        </p:nvSpPr>
        <p:spPr>
          <a:xfrm>
            <a:off x="720000" y="432000"/>
            <a:ext cx="9360000" cy="50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FFFFFF"/>
                </a:solidFill>
                <a:latin typeface="Segoe UI"/>
                <a:ea typeface="Segoe UI"/>
              </a:rPr>
              <a:t>Key Features  (2 of 2)</a:t>
            </a:r>
          </a:p>
        </p:txBody>
      </p:sp>
      <p:sp>
        <p:nvSpPr>
          <p:cNvPr id="100060" name="F4Num"/>
          <p:cNvSpPr txBox="1"/>
          <p:nvPr/>
        </p:nvSpPr>
        <p:spPr>
          <a:xfrm>
            <a:off x="720000" y="1188000"/>
            <a:ext cx="72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200" b="1">
                <a:solidFill>
                  <a:srgbClr val="D29922"/>
                </a:solidFill>
                <a:latin typeface="Segoe UI"/>
                <a:ea typeface="Segoe UI"/>
              </a:rPr>
              <a:t>04</a:t>
            </a:r>
          </a:p>
        </p:txBody>
      </p:sp>
      <p:sp>
        <p:nvSpPr>
          <p:cNvPr id="100061" name="F4Title"/>
          <p:cNvSpPr txBox="1"/>
          <p:nvPr/>
        </p:nvSpPr>
        <p:spPr>
          <a:xfrm>
            <a:off x="1620000" y="1188000"/>
            <a:ext cx="900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FFFFFF"/>
                </a:solidFill>
                <a:latin typeface="Segoe UI"/>
                <a:ea typeface="Segoe UI"/>
              </a:rPr>
              <a:t>Supply-Chain Disruption Tracking</a:t>
            </a:r>
          </a:p>
        </p:txBody>
      </p:sp>
      <p:sp>
        <p:nvSpPr>
          <p:cNvPr id="100062" name="F4Body"/>
          <p:cNvSpPr txBox="1"/>
          <p:nvPr/>
        </p:nvSpPr>
        <p:spPr>
          <a:xfrm>
            <a:off x="1620000" y="1584000"/>
            <a:ext cx="900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 b="0">
                <a:solidFill>
                  <a:srgbClr val="8B949E"/>
                </a:solidFill>
                <a:latin typeface="Segoe UI"/>
                <a:ea typeface="Segoe UI"/>
              </a:rPr>
              <a:t>5 disruption event types — weather, port congestion, customs delay, vehicle breakdown, temp excursion. Each card shows impact score (0-10) with a colour-coded bar, affected shipments, region, start time, and estimated resolution. Active/Resolved toggle filter.</a:t>
            </a:r>
          </a:p>
        </p:txBody>
      </p:sp>
      <p:sp>
        <p:nvSpPr>
          <p:cNvPr id="100063" name="F5Num"/>
          <p:cNvSpPr txBox="1"/>
          <p:nvPr/>
        </p:nvSpPr>
        <p:spPr>
          <a:xfrm>
            <a:off x="720000" y="2664000"/>
            <a:ext cx="72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200" b="1">
                <a:solidFill>
                  <a:srgbClr val="39C5CF"/>
                </a:solidFill>
                <a:latin typeface="Segoe UI"/>
                <a:ea typeface="Segoe UI"/>
              </a:rPr>
              <a:t>05</a:t>
            </a:r>
          </a:p>
        </p:txBody>
      </p:sp>
      <p:sp>
        <p:nvSpPr>
          <p:cNvPr id="100064" name="F5Title"/>
          <p:cNvSpPr txBox="1"/>
          <p:nvPr/>
        </p:nvSpPr>
        <p:spPr>
          <a:xfrm>
            <a:off x="1620000" y="2664000"/>
            <a:ext cx="900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FFFFFF"/>
                </a:solidFill>
                <a:latin typeface="Segoe UI"/>
                <a:ea typeface="Segoe UI"/>
              </a:rPr>
              <a:t>KPI Overview Dashboard with Live Polling</a:t>
            </a:r>
          </a:p>
        </p:txBody>
      </p:sp>
      <p:sp>
        <p:nvSpPr>
          <p:cNvPr id="100065" name="F5Body"/>
          <p:cNvSpPr txBox="1"/>
          <p:nvPr/>
        </p:nvSpPr>
        <p:spPr>
          <a:xfrm>
            <a:off x="1620000" y="3060000"/>
            <a:ext cx="900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 b="0">
                <a:solidFill>
                  <a:srgbClr val="8B949E"/>
                </a:solidFill>
                <a:latin typeface="Segoe UI"/>
                <a:ea typeface="Segoe UI"/>
              </a:rPr>
              <a:t>9 KPI cards in a 5-column grid: total shipments, in-transit, delayed, at-risk, temp excursions, idle fleet, fleet utilisation, active disruptions, critical alerts. Refreshes automatically every 30 seconds via polling. 4 ECharts visualisations: status donut, excursion bar, fleet pie, disruption bar.</a:t>
            </a:r>
          </a:p>
        </p:txBody>
      </p:sp>
      <p:sp>
        <p:nvSpPr>
          <p:cNvPr id="100066" name="F6Num"/>
          <p:cNvSpPr txBox="1"/>
          <p:nvPr/>
        </p:nvSpPr>
        <p:spPr>
          <a:xfrm>
            <a:off x="720000" y="4140000"/>
            <a:ext cx="72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200" b="1">
                <a:solidFill>
                  <a:srgbClr val="F85149"/>
                </a:solidFill>
                <a:latin typeface="Segoe UI"/>
                <a:ea typeface="Segoe UI"/>
              </a:rPr>
              <a:t>06</a:t>
            </a:r>
          </a:p>
        </p:txBody>
      </p:sp>
      <p:sp>
        <p:nvSpPr>
          <p:cNvPr id="100067" name="F6Title"/>
          <p:cNvSpPr txBox="1"/>
          <p:nvPr/>
        </p:nvSpPr>
        <p:spPr>
          <a:xfrm>
            <a:off x="1620000" y="4140000"/>
            <a:ext cx="900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FFFFFF"/>
                </a:solidFill>
                <a:latin typeface="Segoe UI"/>
                <a:ea typeface="Segoe UI"/>
              </a:rPr>
              <a:t>Live Fleet &amp; Cold-Chain Map</a:t>
            </a:r>
          </a:p>
        </p:txBody>
      </p:sp>
      <p:sp>
        <p:nvSpPr>
          <p:cNvPr id="100068" name="F6Body"/>
          <p:cNvSpPr txBox="1"/>
          <p:nvPr/>
        </p:nvSpPr>
        <p:spPr>
          <a:xfrm>
            <a:off x="1620000" y="4536000"/>
            <a:ext cx="900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 b="0">
                <a:solidFill>
                  <a:srgbClr val="8B949E"/>
                </a:solidFill>
                <a:latin typeface="Segoe UI"/>
                <a:ea typeface="Segoe UI"/>
              </a:rPr>
              <a:t>Leaflet.js interactive map centred on India showing all 10 active shipment GPS coordinates as colour-coded circle markers — red for excursion, blue for normal. Click any marker for a popup with shipment ID, product, and current temperature.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69" name="TopBar"/>
          <p:cNvSpPr txBox="1"/>
          <p:nvPr/>
        </p:nvSpPr>
        <p:spPr>
          <a:xfrm>
            <a:off x="0" y="0"/>
            <a:ext cx="12193200" cy="198000"/>
          </a:xfrm>
          <a:prstGeom prst="rect">
            <a:avLst/>
          </a:prstGeom>
          <a:solidFill>
            <a:srgbClr val="2F81F7"/>
          </a:solidFill>
        </p:spPr>
        <p:txBody>
          <a:bodyPr/>
          <a:lstStyle/>
          <a:p>
            <a:endParaRPr lang="en-US">
              <a:solidFill>
                <a:srgbClr val="2F81F7"/>
              </a:solidFill>
            </a:endParaRPr>
          </a:p>
        </p:txBody>
      </p:sp>
      <p:sp>
        <p:nvSpPr>
          <p:cNvPr id="100070" name="SlideNum"/>
          <p:cNvSpPr txBox="1"/>
          <p:nvPr/>
        </p:nvSpPr>
        <p:spPr>
          <a:xfrm>
            <a:off x="10800000" y="288000"/>
            <a:ext cx="108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0">
                <a:solidFill>
                  <a:srgbClr val="57606A"/>
                </a:solidFill>
                <a:latin typeface="Segoe UI"/>
                <a:ea typeface="Segoe UI"/>
              </a:rPr>
              <a:t>08</a:t>
            </a:r>
          </a:p>
        </p:txBody>
      </p:sp>
      <p:sp>
        <p:nvSpPr>
          <p:cNvPr id="100071" name="Title"/>
          <p:cNvSpPr txBox="1"/>
          <p:nvPr/>
        </p:nvSpPr>
        <p:spPr>
          <a:xfrm>
            <a:off x="720000" y="432000"/>
            <a:ext cx="9360000" cy="50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FFFFFF"/>
                </a:solidFill>
                <a:latin typeface="Segoe UI"/>
                <a:ea typeface="Segoe UI"/>
              </a:rPr>
              <a:t>Live Telemetry Tab — Deep Dive</a:t>
            </a:r>
          </a:p>
        </p:txBody>
      </p:sp>
      <p:sp>
        <p:nvSpPr>
          <p:cNvPr id="100072" name="KPILabel"/>
          <p:cNvSpPr txBox="1"/>
          <p:nvPr/>
        </p:nvSpPr>
        <p:spPr>
          <a:xfrm>
            <a:off x="720000" y="1152000"/>
            <a:ext cx="1008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 b="1">
                <a:solidFill>
                  <a:srgbClr val="2F81F7"/>
                </a:solidFill>
                <a:latin typeface="Segoe UI"/>
                <a:ea typeface="Segoe UI"/>
              </a:rPr>
              <a:t>4 Live KPI Cards (update every 5 s)</a:t>
            </a:r>
          </a:p>
        </p:txBody>
      </p:sp>
      <p:sp>
        <p:nvSpPr>
          <p:cNvPr id="100073" name="KPICards"/>
          <p:cNvSpPr txBox="1"/>
          <p:nvPr/>
        </p:nvSpPr>
        <p:spPr>
          <a:xfrm>
            <a:off x="720000" y="1492550"/>
            <a:ext cx="10620000" cy="630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sz="1600" b="0" dirty="0">
                <a:solidFill>
                  <a:srgbClr val="E6EDF3"/>
                </a:solidFill>
                <a:latin typeface="Segoe UI"/>
                <a:ea typeface="Segoe UI"/>
              </a:rPr>
              <a:t>Total Readings  |  Excursions Detected  |  Active Sensors (unique shipments)  |  Last Reading (shipment + temp + category)</a:t>
            </a:r>
          </a:p>
        </p:txBody>
      </p:sp>
      <p:sp>
        <p:nvSpPr>
          <p:cNvPr id="100074" name="ChartsLabel"/>
          <p:cNvSpPr txBox="1"/>
          <p:nvPr/>
        </p:nvSpPr>
        <p:spPr>
          <a:xfrm>
            <a:off x="720000" y="2298200"/>
            <a:ext cx="1008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 b="1" dirty="0">
                <a:solidFill>
                  <a:srgbClr val="3FB950"/>
                </a:solidFill>
                <a:latin typeface="Segoe UI"/>
                <a:ea typeface="Segoe UI"/>
              </a:rPr>
              <a:t>2 Real-time </a:t>
            </a:r>
            <a:r>
              <a:rPr lang="en-US" sz="1600" b="1" dirty="0" err="1">
                <a:solidFill>
                  <a:srgbClr val="3FB950"/>
                </a:solidFill>
                <a:latin typeface="Segoe UI"/>
                <a:ea typeface="Segoe UI"/>
              </a:rPr>
              <a:t>ECharts</a:t>
            </a:r>
            <a:r>
              <a:rPr lang="en-US" sz="1600" b="1" dirty="0">
                <a:solidFill>
                  <a:srgbClr val="3FB950"/>
                </a:solidFill>
                <a:latin typeface="Segoe UI"/>
                <a:ea typeface="Segoe UI"/>
              </a:rPr>
              <a:t> (resize-safe, </a:t>
            </a:r>
            <a:r>
              <a:rPr lang="en-US" sz="1600" b="1" dirty="0" err="1">
                <a:solidFill>
                  <a:srgbClr val="3FB950"/>
                </a:solidFill>
                <a:latin typeface="Segoe UI"/>
                <a:ea typeface="Segoe UI"/>
              </a:rPr>
              <a:t>initialised</a:t>
            </a:r>
            <a:r>
              <a:rPr lang="en-US" sz="1600" b="1" dirty="0">
                <a:solidFill>
                  <a:srgbClr val="3FB950"/>
                </a:solidFill>
                <a:latin typeface="Segoe UI"/>
                <a:ea typeface="Segoe UI"/>
              </a:rPr>
              <a:t> only on first tab open)</a:t>
            </a:r>
          </a:p>
        </p:txBody>
      </p:sp>
      <p:sp>
        <p:nvSpPr>
          <p:cNvPr id="100075" name="Charts"/>
          <p:cNvSpPr txBox="1"/>
          <p:nvPr/>
        </p:nvSpPr>
        <p:spPr>
          <a:xfrm>
            <a:off x="720000" y="2643226"/>
            <a:ext cx="10620000" cy="720000"/>
          </a:xfrm>
          <a:prstGeom prst="rect">
            <a:avLst/>
          </a:prstGeom>
          <a:solidFill>
            <a:srgbClr val="C00000">
              <a:alpha val="37000"/>
            </a:srgbClr>
          </a:solidFill>
        </p:spPr>
        <p:txBody>
          <a:bodyPr/>
          <a:lstStyle/>
          <a:p>
            <a:r>
              <a:rPr lang="en-US" sz="1600" b="0">
                <a:solidFill>
                  <a:srgbClr val="E6EDF3"/>
                </a:solidFill>
                <a:latin typeface="Segoe UI"/>
                <a:ea typeface="Segoe UI"/>
              </a:rPr>
              <a:t>Left:  Smooth line chart — last 20 IoT temperature readings with shipment timestamps</a:t>
            </a:r>
          </a:p>
          <a:p>
            <a:r>
              <a:rPr lang="en-US" sz="1600" b="0">
                <a:solidFill>
                  <a:srgbClr val="E6EDF3"/>
                </a:solidFill>
                <a:latin typeface="Segoe UI"/>
                <a:ea typeface="Segoe UI"/>
              </a:rPr>
              <a:t>Right:  Donut chart — reading count by product category (refrigerated / frozen / pharma / ambient)</a:t>
            </a:r>
          </a:p>
        </p:txBody>
      </p:sp>
      <p:sp>
        <p:nvSpPr>
          <p:cNvPr id="100076" name="FeedLabel"/>
          <p:cNvSpPr txBox="1"/>
          <p:nvPr/>
        </p:nvSpPr>
        <p:spPr>
          <a:xfrm>
            <a:off x="720000" y="3510122"/>
            <a:ext cx="1008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 b="1">
                <a:solidFill>
                  <a:srgbClr val="A371F7"/>
                </a:solidFill>
                <a:latin typeface="Segoe UI"/>
                <a:ea typeface="Segoe UI"/>
              </a:rPr>
              <a:t>Live Feed (newest first, max 100 rows)</a:t>
            </a:r>
          </a:p>
        </p:txBody>
      </p:sp>
      <p:sp>
        <p:nvSpPr>
          <p:cNvPr id="100077" name="Feed"/>
          <p:cNvSpPr txBox="1"/>
          <p:nvPr/>
        </p:nvSpPr>
        <p:spPr>
          <a:xfrm>
            <a:off x="720000" y="3834121"/>
            <a:ext cx="10620000" cy="7200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/>
          <a:p>
            <a:r>
              <a:rPr lang="en-US" sz="1600" b="0">
                <a:solidFill>
                  <a:srgbClr val="E6EDF3"/>
                </a:solidFill>
                <a:latin typeface="Segoe UI"/>
                <a:ea typeface="Segoe UI"/>
              </a:rPr>
              <a:t>Each row:  HH:MM:SS  [OK] / [EXCURSION]  SH-XXX  Product  Temp C  Humidity %  Battery %</a:t>
            </a:r>
          </a:p>
          <a:p>
            <a:r>
              <a:rPr lang="en-US" sz="1600" b="0">
                <a:solidFill>
                  <a:srgbClr val="E6EDF3"/>
                </a:solidFill>
                <a:latin typeface="Segoe UI"/>
                <a:ea typeface="Segoe UI"/>
              </a:rPr>
              <a:t>Placeholder spinner shown until first message arrives. Clear button restores placeholder.</a:t>
            </a:r>
          </a:p>
        </p:txBody>
      </p:sp>
      <p:sp>
        <p:nvSpPr>
          <p:cNvPr id="100078" name="PreloadNote"/>
          <p:cNvSpPr txBox="1"/>
          <p:nvPr/>
        </p:nvSpPr>
        <p:spPr>
          <a:xfrm>
            <a:off x="720000" y="4701026"/>
            <a:ext cx="106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500" b="0">
                <a:solidFill>
                  <a:srgbClr val="D29922"/>
                </a:solidFill>
                <a:latin typeface="Segoe UI"/>
                <a:ea typeface="Segoe UI"/>
              </a:rPr>
              <a:t>Pre-load on tab open: fetches /api/shipments instantly so users see 10 rows of real data before the first WS push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79" name="TopBar"/>
          <p:cNvSpPr txBox="1"/>
          <p:nvPr/>
        </p:nvSpPr>
        <p:spPr>
          <a:xfrm>
            <a:off x="0" y="0"/>
            <a:ext cx="12193200" cy="198000"/>
          </a:xfrm>
          <a:prstGeom prst="rect">
            <a:avLst/>
          </a:prstGeom>
          <a:solidFill>
            <a:srgbClr val="2F81F7"/>
          </a:solidFill>
        </p:spPr>
        <p:txBody>
          <a:bodyPr/>
          <a:lstStyle/>
          <a:p>
            <a:endParaRPr lang="en-US">
              <a:solidFill>
                <a:srgbClr val="2F81F7"/>
              </a:solidFill>
            </a:endParaRPr>
          </a:p>
        </p:txBody>
      </p:sp>
      <p:sp>
        <p:nvSpPr>
          <p:cNvPr id="100080" name="SlideNum"/>
          <p:cNvSpPr txBox="1"/>
          <p:nvPr/>
        </p:nvSpPr>
        <p:spPr>
          <a:xfrm>
            <a:off x="10800000" y="288000"/>
            <a:ext cx="108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0">
                <a:solidFill>
                  <a:srgbClr val="57606A"/>
                </a:solidFill>
                <a:latin typeface="Segoe UI"/>
                <a:ea typeface="Segoe UI"/>
              </a:rPr>
              <a:t>09</a:t>
            </a:r>
          </a:p>
        </p:txBody>
      </p:sp>
      <p:sp>
        <p:nvSpPr>
          <p:cNvPr id="100081" name="Title"/>
          <p:cNvSpPr txBox="1"/>
          <p:nvPr/>
        </p:nvSpPr>
        <p:spPr>
          <a:xfrm>
            <a:off x="720000" y="432000"/>
            <a:ext cx="9360000" cy="50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FFFFFF"/>
                </a:solidFill>
                <a:latin typeface="Segoe UI"/>
                <a:ea typeface="Segoe UI"/>
              </a:rPr>
              <a:t>Active Shipments &amp; Fleet Assets</a:t>
            </a:r>
          </a:p>
        </p:txBody>
      </p:sp>
      <p:sp>
        <p:nvSpPr>
          <p:cNvPr id="100082" name="ShipLabel"/>
          <p:cNvSpPr txBox="1"/>
          <p:nvPr/>
        </p:nvSpPr>
        <p:spPr>
          <a:xfrm>
            <a:off x="720000" y="1152000"/>
            <a:ext cx="504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 b="1">
                <a:solidFill>
                  <a:srgbClr val="2F81F7"/>
                </a:solidFill>
                <a:latin typeface="Segoe UI"/>
                <a:ea typeface="Segoe UI"/>
              </a:rPr>
              <a:t>Active Shipments (10 routes across India)</a:t>
            </a:r>
          </a:p>
        </p:txBody>
      </p:sp>
      <p:sp>
        <p:nvSpPr>
          <p:cNvPr id="100083" name="ShipData"/>
          <p:cNvSpPr txBox="1"/>
          <p:nvPr/>
        </p:nvSpPr>
        <p:spPr>
          <a:xfrm>
            <a:off x="720000" y="1476000"/>
            <a:ext cx="5040000" cy="2340000"/>
          </a:xfrm>
          <a:prstGeom prst="rect">
            <a:avLst/>
          </a:prstGeom>
          <a:solidFill>
            <a:srgbClr val="0070C0">
              <a:alpha val="37000"/>
            </a:srgbClr>
          </a:solidFill>
        </p:spPr>
        <p:txBody>
          <a:bodyPr/>
          <a:lstStyle/>
          <a:p>
            <a:r>
              <a:rPr lang="en-US" sz="1400" b="0">
                <a:solidFill>
                  <a:srgbClr val="E6EDF3"/>
                </a:solidFill>
                <a:latin typeface="Segoe UI"/>
                <a:ea typeface="Segoe UI"/>
              </a:rPr>
              <a:t>Routes: Mumbai-Delhi, Chennai-Bangalore, Kolkata-Hyderabad, Pune-Mumbai, Ahmedabad-Jaipur, Delhi-Lucknow, Hyderabad-Vijayawada, Bangalore-Mysore, Jaipur-Jodhpur, Mumbai-Goa</a:t>
            </a:r>
          </a:p>
          <a:p>
            <a:endParaRPr lang="en-US" sz="1400" b="0">
              <a:solidFill>
                <a:srgbClr val="E6EDF3"/>
              </a:solidFill>
              <a:latin typeface="Segoe UI"/>
              <a:ea typeface="Segoe UI"/>
            </a:endParaRPr>
          </a:p>
          <a:p>
            <a:r>
              <a:rPr lang="en-US" sz="1400" b="0">
                <a:solidFill>
                  <a:srgbClr val="E6EDF3"/>
                </a:solidFill>
                <a:latin typeface="Segoe UI"/>
                <a:ea typeface="Segoe UI"/>
              </a:rPr>
              <a:t>Statuses: In Transit (5), Delayed (2), At Risk (3)</a:t>
            </a:r>
          </a:p>
          <a:p>
            <a:r>
              <a:rPr lang="en-US" sz="1400" b="0">
                <a:solidFill>
                  <a:srgbClr val="E6EDF3"/>
                </a:solidFill>
                <a:latin typeface="Segoe UI"/>
                <a:ea typeface="Segoe UI"/>
              </a:rPr>
              <a:t>Categories: Refrigerated (3), Frozen (3), Pharma (2), Ambient (2)</a:t>
            </a:r>
          </a:p>
        </p:txBody>
      </p:sp>
      <p:sp>
        <p:nvSpPr>
          <p:cNvPr id="100084" name="FleetLabel"/>
          <p:cNvSpPr txBox="1"/>
          <p:nvPr/>
        </p:nvSpPr>
        <p:spPr>
          <a:xfrm>
            <a:off x="6480000" y="1152000"/>
            <a:ext cx="468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 b="1">
                <a:solidFill>
                  <a:srgbClr val="3FB950"/>
                </a:solidFill>
                <a:latin typeface="Segoe UI"/>
                <a:ea typeface="Segoe UI"/>
              </a:rPr>
              <a:t>Fleet Assets (15 vehicles)</a:t>
            </a:r>
          </a:p>
        </p:txBody>
      </p:sp>
      <p:sp>
        <p:nvSpPr>
          <p:cNvPr id="100085" name="FleetData"/>
          <p:cNvSpPr txBox="1"/>
          <p:nvPr/>
        </p:nvSpPr>
        <p:spPr>
          <a:xfrm>
            <a:off x="6480000" y="1476000"/>
            <a:ext cx="4680000" cy="2340000"/>
          </a:xfrm>
          <a:prstGeom prst="rect">
            <a:avLst/>
          </a:prstGeom>
          <a:solidFill>
            <a:srgbClr val="92D050">
              <a:alpha val="52000"/>
            </a:srgbClr>
          </a:solidFill>
        </p:spPr>
        <p:txBody>
          <a:bodyPr/>
          <a:lstStyle/>
          <a:p>
            <a:r>
              <a:rPr lang="en-US" sz="1400" b="0" dirty="0">
                <a:solidFill>
                  <a:srgbClr val="E6EDF3"/>
                </a:solidFill>
                <a:latin typeface="Segoe UI"/>
                <a:ea typeface="Segoe UI"/>
              </a:rPr>
              <a:t>10 Active vehicles on assigned shipments</a:t>
            </a:r>
          </a:p>
          <a:p>
            <a:r>
              <a:rPr lang="en-US" sz="1400" b="0" dirty="0">
                <a:solidFill>
                  <a:srgbClr val="E6EDF3"/>
                </a:solidFill>
                <a:latin typeface="Segoe UI"/>
                <a:ea typeface="Segoe UI"/>
              </a:rPr>
              <a:t> 2 Idle at depot</a:t>
            </a:r>
          </a:p>
          <a:p>
            <a:r>
              <a:rPr lang="en-US" sz="1400" b="0" dirty="0">
                <a:solidFill>
                  <a:srgbClr val="E6EDF3"/>
                </a:solidFill>
                <a:latin typeface="Segoe UI"/>
                <a:ea typeface="Segoe UI"/>
              </a:rPr>
              <a:t> 1 In maintenance</a:t>
            </a:r>
          </a:p>
          <a:p>
            <a:r>
              <a:rPr lang="en-US" sz="1400" b="0" dirty="0">
                <a:solidFill>
                  <a:srgbClr val="E6EDF3"/>
                </a:solidFill>
                <a:latin typeface="Segoe UI"/>
                <a:ea typeface="Segoe UI"/>
              </a:rPr>
              <a:t> 1 Offline</a:t>
            </a:r>
          </a:p>
          <a:p>
            <a:endParaRPr lang="en-US" sz="1400" b="0" dirty="0">
              <a:solidFill>
                <a:srgbClr val="E6EDF3"/>
              </a:solidFill>
              <a:latin typeface="Segoe UI"/>
              <a:ea typeface="Segoe UI"/>
            </a:endParaRPr>
          </a:p>
          <a:p>
            <a:r>
              <a:rPr lang="en-US" sz="1400" b="0" dirty="0">
                <a:solidFill>
                  <a:srgbClr val="E6EDF3"/>
                </a:solidFill>
                <a:latin typeface="Segoe UI"/>
                <a:ea typeface="Segoe UI"/>
              </a:rPr>
              <a:t>Types: Refrigerated Trucks, Freezer Vans, Pharma Reefers, Standard Trucks</a:t>
            </a:r>
          </a:p>
          <a:p>
            <a:endParaRPr lang="en-US" sz="1400" b="0" dirty="0">
              <a:solidFill>
                <a:srgbClr val="E6EDF3"/>
              </a:solidFill>
              <a:latin typeface="Segoe UI"/>
              <a:ea typeface="Segoe UI"/>
            </a:endParaRPr>
          </a:p>
          <a:p>
            <a:r>
              <a:rPr lang="en-US" sz="1400" b="0" dirty="0">
                <a:solidFill>
                  <a:srgbClr val="E6EDF3"/>
                </a:solidFill>
                <a:latin typeface="Segoe UI"/>
                <a:ea typeface="Segoe UI"/>
              </a:rPr>
              <a:t>Filter by: Active / Idle / Maintenance / Offline</a:t>
            </a:r>
          </a:p>
        </p:txBody>
      </p:sp>
      <p:sp>
        <p:nvSpPr>
          <p:cNvPr id="100086" name="TableCols"/>
          <p:cNvSpPr txBox="1"/>
          <p:nvPr/>
        </p:nvSpPr>
        <p:spPr>
          <a:xfrm>
            <a:off x="720000" y="4032000"/>
            <a:ext cx="1062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0">
                <a:solidFill>
                  <a:srgbClr val="8B949E"/>
                </a:solidFill>
                <a:latin typeface="Segoe UI"/>
                <a:ea typeface="Segoe UI"/>
              </a:rPr>
              <a:t>Table columns: ID  |  Product  |  Category  |  Route  |  Carrier  |  Status  |  Temperature + bar  |  Progress bar  |  ETA  |  Excursion badge</a:t>
            </a:r>
          </a:p>
        </p:txBody>
      </p:sp>
      <p:sp>
        <p:nvSpPr>
          <p:cNvPr id="100087" name="SortNote"/>
          <p:cNvSpPr txBox="1"/>
          <p:nvPr/>
        </p:nvSpPr>
        <p:spPr>
          <a:xfrm>
            <a:off x="720000" y="4608000"/>
            <a:ext cx="1062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500" b="1">
                <a:solidFill>
                  <a:srgbClr val="D29922"/>
                </a:solidFill>
                <a:latin typeface="Segoe UI"/>
                <a:ea typeface="Segoe UI"/>
              </a:rPr>
              <a:t>All 9 columns except Route are click-sortable — ascending/descending with indicator arrow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88" name="TopBar"/>
          <p:cNvSpPr txBox="1"/>
          <p:nvPr/>
        </p:nvSpPr>
        <p:spPr>
          <a:xfrm>
            <a:off x="0" y="0"/>
            <a:ext cx="12193200" cy="198000"/>
          </a:xfrm>
          <a:prstGeom prst="rect">
            <a:avLst/>
          </a:prstGeom>
          <a:solidFill>
            <a:srgbClr val="2F81F7"/>
          </a:solidFill>
        </p:spPr>
        <p:txBody>
          <a:bodyPr/>
          <a:lstStyle/>
          <a:p>
            <a:endParaRPr lang="en-US">
              <a:solidFill>
                <a:srgbClr val="2F81F7"/>
              </a:solidFill>
            </a:endParaRPr>
          </a:p>
        </p:txBody>
      </p:sp>
      <p:sp>
        <p:nvSpPr>
          <p:cNvPr id="100089" name="SlideNum"/>
          <p:cNvSpPr txBox="1"/>
          <p:nvPr/>
        </p:nvSpPr>
        <p:spPr>
          <a:xfrm>
            <a:off x="10800000" y="288000"/>
            <a:ext cx="108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0">
                <a:solidFill>
                  <a:srgbClr val="57606A"/>
                </a:solidFill>
                <a:latin typeface="Segoe UI"/>
                <a:ea typeface="Segoe UI"/>
              </a:rPr>
              <a:t>10</a:t>
            </a:r>
          </a:p>
        </p:txBody>
      </p:sp>
      <p:sp>
        <p:nvSpPr>
          <p:cNvPr id="100090" name="Title"/>
          <p:cNvSpPr txBox="1"/>
          <p:nvPr/>
        </p:nvSpPr>
        <p:spPr>
          <a:xfrm>
            <a:off x="720000" y="432000"/>
            <a:ext cx="9360000" cy="50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FFFFFF"/>
                </a:solidFill>
                <a:latin typeface="Segoe UI"/>
                <a:ea typeface="Segoe UI"/>
              </a:rPr>
              <a:t>Alerts &amp; Disruption Events</a:t>
            </a:r>
          </a:p>
        </p:txBody>
      </p:sp>
      <p:sp>
        <p:nvSpPr>
          <p:cNvPr id="100091" name="AlertLabel"/>
          <p:cNvSpPr txBox="1"/>
          <p:nvPr/>
        </p:nvSpPr>
        <p:spPr>
          <a:xfrm>
            <a:off x="720000" y="1152000"/>
            <a:ext cx="504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 b="1">
                <a:solidFill>
                  <a:srgbClr val="F85149"/>
                </a:solidFill>
                <a:latin typeface="Segoe UI"/>
                <a:ea typeface="Segoe UI"/>
              </a:rPr>
              <a:t>Alerts Tab</a:t>
            </a:r>
          </a:p>
        </p:txBody>
      </p:sp>
      <p:sp>
        <p:nvSpPr>
          <p:cNvPr id="100092" name="AlertBody"/>
          <p:cNvSpPr txBox="1"/>
          <p:nvPr/>
        </p:nvSpPr>
        <p:spPr>
          <a:xfrm>
            <a:off x="720000" y="1476000"/>
            <a:ext cx="5040000" cy="2880000"/>
          </a:xfrm>
          <a:prstGeom prst="rect">
            <a:avLst/>
          </a:prstGeom>
          <a:solidFill>
            <a:srgbClr val="C00000">
              <a:alpha val="36000"/>
            </a:srgbClr>
          </a:solidFill>
        </p:spPr>
        <p:txBody>
          <a:bodyPr/>
          <a:lstStyle/>
          <a:p>
            <a:r>
              <a:rPr lang="en-US" sz="1400" b="0">
                <a:solidFill>
                  <a:srgbClr val="E6EDF3"/>
                </a:solidFill>
                <a:latin typeface="Segoe UI"/>
                <a:ea typeface="Segoe UI"/>
              </a:rPr>
              <a:t>Two alert types generated automatically at startup:</a:t>
            </a:r>
          </a:p>
          <a:p>
            <a:endParaRPr lang="en-US" sz="1400" b="0">
              <a:solidFill>
                <a:srgbClr val="E6EDF3"/>
              </a:solidFill>
              <a:latin typeface="Segoe UI"/>
              <a:ea typeface="Segoe UI"/>
            </a:endParaRPr>
          </a:p>
          <a:p>
            <a:r>
              <a:rPr lang="en-US" sz="1400" b="0">
                <a:solidFill>
                  <a:srgbClr val="E6EDF3"/>
                </a:solidFill>
                <a:latin typeface="Segoe UI"/>
                <a:ea typeface="Segoe UI"/>
              </a:rPr>
              <a:t>CRITICAL temperature excursion alerts — for AT_RISK shipments with out-of-range readings, showing temp, direction (above max / below min), and product name.</a:t>
            </a:r>
          </a:p>
          <a:p>
            <a:endParaRPr lang="en-US" sz="1400" b="0">
              <a:solidFill>
                <a:srgbClr val="E6EDF3"/>
              </a:solidFill>
              <a:latin typeface="Segoe UI"/>
              <a:ea typeface="Segoe UI"/>
            </a:endParaRPr>
          </a:p>
          <a:p>
            <a:r>
              <a:rPr lang="en-US" sz="1400" b="0">
                <a:solidFill>
                  <a:srgbClr val="E6EDF3"/>
                </a:solidFill>
                <a:latin typeface="Segoe UI"/>
                <a:ea typeface="Segoe UI"/>
              </a:rPr>
              <a:t>WARNING shipment delay alerts — for DELAYED shipments.</a:t>
            </a:r>
          </a:p>
          <a:p>
            <a:endParaRPr lang="en-US" sz="1400" b="0">
              <a:solidFill>
                <a:srgbClr val="E6EDF3"/>
              </a:solidFill>
              <a:latin typeface="Segoe UI"/>
              <a:ea typeface="Segoe UI"/>
            </a:endParaRPr>
          </a:p>
          <a:p>
            <a:r>
              <a:rPr lang="en-US" sz="1400" b="0">
                <a:solidFill>
                  <a:srgbClr val="E6EDF3"/>
                </a:solidFill>
                <a:latin typeface="Segoe UI"/>
                <a:ea typeface="Segoe UI"/>
              </a:rPr>
              <a:t>Filters: by severity (critical / warning / info) and unacknowledged-only checkbox. One-click acknowledge button updates state without page reload.</a:t>
            </a:r>
          </a:p>
        </p:txBody>
      </p:sp>
      <p:sp>
        <p:nvSpPr>
          <p:cNvPr id="100093" name="DisLabel"/>
          <p:cNvSpPr txBox="1"/>
          <p:nvPr/>
        </p:nvSpPr>
        <p:spPr>
          <a:xfrm>
            <a:off x="6480000" y="1152000"/>
            <a:ext cx="468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 b="1">
                <a:solidFill>
                  <a:srgbClr val="D29922"/>
                </a:solidFill>
                <a:latin typeface="Segoe UI"/>
                <a:ea typeface="Segoe UI"/>
              </a:rPr>
              <a:t>Disruptions Tab</a:t>
            </a:r>
          </a:p>
        </p:txBody>
      </p:sp>
      <p:sp>
        <p:nvSpPr>
          <p:cNvPr id="100094" name="DisBody"/>
          <p:cNvSpPr txBox="1"/>
          <p:nvPr/>
        </p:nvSpPr>
        <p:spPr>
          <a:xfrm>
            <a:off x="6480000" y="1476000"/>
            <a:ext cx="4680000" cy="2880000"/>
          </a:xfrm>
          <a:prstGeom prst="rect">
            <a:avLst/>
          </a:prstGeom>
          <a:solidFill>
            <a:srgbClr val="FFC000">
              <a:alpha val="57000"/>
            </a:srgbClr>
          </a:solidFill>
        </p:spPr>
        <p:txBody>
          <a:bodyPr/>
          <a:lstStyle/>
          <a:p>
            <a:r>
              <a:rPr lang="en-US" sz="1400" b="0" dirty="0">
                <a:solidFill>
                  <a:srgbClr val="E6EDF3"/>
                </a:solidFill>
                <a:latin typeface="Segoe UI"/>
                <a:ea typeface="Segoe UI"/>
              </a:rPr>
              <a:t>5 disruption events:</a:t>
            </a:r>
          </a:p>
          <a:p>
            <a:endParaRPr lang="en-US" sz="1400" b="0" dirty="0">
              <a:solidFill>
                <a:srgbClr val="E6EDF3"/>
              </a:solidFill>
              <a:latin typeface="Segoe UI"/>
              <a:ea typeface="Segoe UI"/>
            </a:endParaRPr>
          </a:p>
          <a:p>
            <a:r>
              <a:rPr lang="en-US" sz="1400" b="0" dirty="0">
                <a:solidFill>
                  <a:srgbClr val="E6EDF3"/>
                </a:solidFill>
                <a:latin typeface="Segoe UI"/>
                <a:ea typeface="Segoe UI"/>
              </a:rPr>
              <a:t>DIS-001  Weather — Heavy fog NH-44 (impact 7.5)</a:t>
            </a:r>
          </a:p>
          <a:p>
            <a:r>
              <a:rPr lang="en-US" sz="1400" b="0" dirty="0">
                <a:solidFill>
                  <a:srgbClr val="E6EDF3"/>
                </a:solidFill>
                <a:latin typeface="Segoe UI"/>
                <a:ea typeface="Segoe UI"/>
              </a:rPr>
              <a:t>DIS-002  Temp Excursion — Reefer malfunctions (impact 9.2)</a:t>
            </a:r>
          </a:p>
          <a:p>
            <a:r>
              <a:rPr lang="en-US" sz="1400" b="0" dirty="0">
                <a:solidFill>
                  <a:srgbClr val="E6EDF3"/>
                </a:solidFill>
                <a:latin typeface="Segoe UI"/>
                <a:ea typeface="Segoe UI"/>
              </a:rPr>
              <a:t>DIS-003  Port Congestion — Goa Port (impact 6.0)</a:t>
            </a:r>
          </a:p>
          <a:p>
            <a:r>
              <a:rPr lang="en-US" sz="1400" b="0" dirty="0">
                <a:solidFill>
                  <a:srgbClr val="E6EDF3"/>
                </a:solidFill>
                <a:latin typeface="Segoe UI"/>
                <a:ea typeface="Segoe UI"/>
              </a:rPr>
              <a:t>DIS-004  Vehicle Breakdown — VH-102 compressor (impact 8.0)</a:t>
            </a:r>
          </a:p>
          <a:p>
            <a:r>
              <a:rPr lang="en-US" sz="1400" b="0" dirty="0">
                <a:solidFill>
                  <a:srgbClr val="E6EDF3"/>
                </a:solidFill>
                <a:latin typeface="Segoe UI"/>
                <a:ea typeface="Segoe UI"/>
              </a:rPr>
              <a:t>DIS-005  Customs Delay — Chennai (resolved)</a:t>
            </a:r>
          </a:p>
          <a:p>
            <a:endParaRPr lang="en-US" sz="1400" b="0" dirty="0">
              <a:solidFill>
                <a:srgbClr val="E6EDF3"/>
              </a:solidFill>
              <a:latin typeface="Segoe UI"/>
              <a:ea typeface="Segoe UI"/>
            </a:endParaRPr>
          </a:p>
          <a:p>
            <a:r>
              <a:rPr lang="en-US" sz="1400" b="0" dirty="0">
                <a:solidFill>
                  <a:srgbClr val="E6EDF3"/>
                </a:solidFill>
                <a:latin typeface="Segoe UI"/>
                <a:ea typeface="Segoe UI"/>
              </a:rPr>
              <a:t>Each card: type badge, region, description, impact score bar, affected shipments, start time, resolution ETA.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95" name="TopBar"/>
          <p:cNvSpPr txBox="1"/>
          <p:nvPr/>
        </p:nvSpPr>
        <p:spPr>
          <a:xfrm>
            <a:off x="0" y="0"/>
            <a:ext cx="12193200" cy="198000"/>
          </a:xfrm>
          <a:prstGeom prst="rect">
            <a:avLst/>
          </a:prstGeom>
          <a:solidFill>
            <a:srgbClr val="2F81F7"/>
          </a:solidFill>
        </p:spPr>
        <p:txBody>
          <a:bodyPr/>
          <a:lstStyle/>
          <a:p>
            <a:endParaRPr lang="en-US">
              <a:solidFill>
                <a:srgbClr val="2F81F7"/>
              </a:solidFill>
            </a:endParaRPr>
          </a:p>
        </p:txBody>
      </p:sp>
      <p:sp>
        <p:nvSpPr>
          <p:cNvPr id="100096" name="SlideNum"/>
          <p:cNvSpPr txBox="1"/>
          <p:nvPr/>
        </p:nvSpPr>
        <p:spPr>
          <a:xfrm>
            <a:off x="10800000" y="288000"/>
            <a:ext cx="108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0">
                <a:solidFill>
                  <a:srgbClr val="57606A"/>
                </a:solidFill>
                <a:latin typeface="Segoe UI"/>
                <a:ea typeface="Segoe UI"/>
              </a:rPr>
              <a:t>11</a:t>
            </a:r>
          </a:p>
        </p:txBody>
      </p:sp>
      <p:sp>
        <p:nvSpPr>
          <p:cNvPr id="100097" name="Title"/>
          <p:cNvSpPr txBox="1"/>
          <p:nvPr/>
        </p:nvSpPr>
        <p:spPr>
          <a:xfrm>
            <a:off x="720000" y="432000"/>
            <a:ext cx="9360000" cy="50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FFFFFF"/>
                </a:solidFill>
                <a:latin typeface="Segoe UI"/>
                <a:ea typeface="Segoe UI"/>
              </a:rPr>
              <a:t>Tech Stack</a:t>
            </a:r>
          </a:p>
        </p:txBody>
      </p:sp>
      <p:sp>
        <p:nvSpPr>
          <p:cNvPr id="100098" name="BackendLabel"/>
          <p:cNvSpPr txBox="1"/>
          <p:nvPr/>
        </p:nvSpPr>
        <p:spPr>
          <a:xfrm>
            <a:off x="720000" y="1152000"/>
            <a:ext cx="324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2F81F7"/>
                </a:solidFill>
                <a:latin typeface="Segoe UI"/>
                <a:ea typeface="Segoe UI"/>
              </a:rPr>
              <a:t>Backend</a:t>
            </a:r>
          </a:p>
        </p:txBody>
      </p:sp>
      <p:sp>
        <p:nvSpPr>
          <p:cNvPr id="100099" name="BackendBox"/>
          <p:cNvSpPr txBox="1"/>
          <p:nvPr/>
        </p:nvSpPr>
        <p:spPr>
          <a:xfrm>
            <a:off x="720000" y="1440000"/>
            <a:ext cx="3240000" cy="2520000"/>
          </a:xfrm>
          <a:prstGeom prst="rect">
            <a:avLst/>
          </a:prstGeom>
          <a:solidFill>
            <a:srgbClr val="161B22"/>
          </a:solidFill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1600" b="0" dirty="0">
                <a:solidFill>
                  <a:srgbClr val="E6EDF3"/>
                </a:solidFill>
                <a:latin typeface="Segoe UI"/>
                <a:ea typeface="Segoe UI"/>
              </a:rPr>
              <a:t>Python 3</a:t>
            </a:r>
          </a:p>
          <a:p>
            <a:pPr>
              <a:spcAft>
                <a:spcPts val="600"/>
              </a:spcAft>
            </a:pPr>
            <a:r>
              <a:rPr lang="en-US" sz="1600" b="0" dirty="0" err="1">
                <a:solidFill>
                  <a:srgbClr val="E6EDF3"/>
                </a:solidFill>
                <a:latin typeface="Segoe UI"/>
                <a:ea typeface="Segoe UI"/>
              </a:rPr>
              <a:t>FastAPI</a:t>
            </a:r>
            <a:endParaRPr lang="en-US" sz="1600" b="0" dirty="0">
              <a:solidFill>
                <a:srgbClr val="E6EDF3"/>
              </a:solidFill>
              <a:latin typeface="Segoe UI"/>
              <a:ea typeface="Segoe UI"/>
            </a:endParaRPr>
          </a:p>
          <a:p>
            <a:pPr>
              <a:spcAft>
                <a:spcPts val="600"/>
              </a:spcAft>
            </a:pPr>
            <a:r>
              <a:rPr lang="en-US" sz="1600" b="0" dirty="0" err="1">
                <a:solidFill>
                  <a:srgbClr val="E6EDF3"/>
                </a:solidFill>
                <a:latin typeface="Segoe UI"/>
                <a:ea typeface="Segoe UI"/>
              </a:rPr>
              <a:t>Pydantic</a:t>
            </a:r>
            <a:r>
              <a:rPr lang="en-US" sz="1600" b="0" dirty="0">
                <a:solidFill>
                  <a:srgbClr val="E6EDF3"/>
                </a:solidFill>
                <a:latin typeface="Segoe UI"/>
                <a:ea typeface="Segoe UI"/>
              </a:rPr>
              <a:t> v2</a:t>
            </a:r>
          </a:p>
          <a:p>
            <a:pPr>
              <a:spcAft>
                <a:spcPts val="600"/>
              </a:spcAft>
            </a:pPr>
            <a:r>
              <a:rPr lang="en-US" sz="1600" b="0" dirty="0" err="1">
                <a:solidFill>
                  <a:srgbClr val="E6EDF3"/>
                </a:solidFill>
                <a:latin typeface="Segoe UI"/>
                <a:ea typeface="Segoe UI"/>
              </a:rPr>
              <a:t>asyncio</a:t>
            </a:r>
            <a:endParaRPr lang="en-US" sz="1600" b="0" dirty="0">
              <a:solidFill>
                <a:srgbClr val="E6EDF3"/>
              </a:solidFill>
              <a:latin typeface="Segoe UI"/>
              <a:ea typeface="Segoe UI"/>
            </a:endParaRPr>
          </a:p>
          <a:p>
            <a:pPr>
              <a:spcAft>
                <a:spcPts val="600"/>
              </a:spcAft>
            </a:pPr>
            <a:r>
              <a:rPr lang="en-US" sz="1600" b="0" dirty="0">
                <a:solidFill>
                  <a:srgbClr val="E6EDF3"/>
                </a:solidFill>
                <a:latin typeface="Segoe UI"/>
                <a:ea typeface="Segoe UI"/>
              </a:rPr>
              <a:t>WebSocket</a:t>
            </a:r>
          </a:p>
          <a:p>
            <a:pPr>
              <a:spcAft>
                <a:spcPts val="600"/>
              </a:spcAft>
            </a:pPr>
            <a:r>
              <a:rPr lang="en-US" sz="1600" b="0" dirty="0" err="1">
                <a:solidFill>
                  <a:srgbClr val="E6EDF3"/>
                </a:solidFill>
                <a:latin typeface="Segoe UI"/>
                <a:ea typeface="Segoe UI"/>
              </a:rPr>
              <a:t>Uvicorn</a:t>
            </a:r>
            <a:endParaRPr lang="en-US" sz="1600" b="0" dirty="0">
              <a:solidFill>
                <a:srgbClr val="E6EDF3"/>
              </a:solidFill>
              <a:latin typeface="Segoe UI"/>
              <a:ea typeface="Segoe UI"/>
            </a:endParaRPr>
          </a:p>
          <a:p>
            <a:pPr>
              <a:spcAft>
                <a:spcPts val="600"/>
              </a:spcAft>
            </a:pPr>
            <a:r>
              <a:rPr lang="en-US" sz="1600" b="0" dirty="0" err="1">
                <a:solidFill>
                  <a:srgbClr val="E6EDF3"/>
                </a:solidFill>
                <a:latin typeface="Segoe UI"/>
                <a:ea typeface="Segoe UI"/>
              </a:rPr>
              <a:t>pytest</a:t>
            </a:r>
            <a:endParaRPr lang="en-US" sz="1600" b="0" dirty="0">
              <a:solidFill>
                <a:srgbClr val="E6EDF3"/>
              </a:solidFill>
              <a:latin typeface="Segoe UI"/>
              <a:ea typeface="Segoe UI"/>
            </a:endParaRPr>
          </a:p>
        </p:txBody>
      </p:sp>
      <p:sp>
        <p:nvSpPr>
          <p:cNvPr id="100100" name="FrontendLabel"/>
          <p:cNvSpPr txBox="1"/>
          <p:nvPr/>
        </p:nvSpPr>
        <p:spPr>
          <a:xfrm>
            <a:off x="4500000" y="1152000"/>
            <a:ext cx="324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3FB950"/>
                </a:solidFill>
                <a:latin typeface="Segoe UI"/>
                <a:ea typeface="Segoe UI"/>
              </a:rPr>
              <a:t>Frontend</a:t>
            </a:r>
          </a:p>
        </p:txBody>
      </p:sp>
      <p:sp>
        <p:nvSpPr>
          <p:cNvPr id="100101" name="FrontendBox"/>
          <p:cNvSpPr txBox="1"/>
          <p:nvPr/>
        </p:nvSpPr>
        <p:spPr>
          <a:xfrm>
            <a:off x="4500000" y="1440000"/>
            <a:ext cx="3240000" cy="2520000"/>
          </a:xfrm>
          <a:prstGeom prst="rect">
            <a:avLst/>
          </a:prstGeom>
          <a:solidFill>
            <a:srgbClr val="161B22"/>
          </a:solidFill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1600" b="0" dirty="0">
                <a:solidFill>
                  <a:srgbClr val="E6EDF3"/>
                </a:solidFill>
                <a:latin typeface="Segoe UI"/>
                <a:ea typeface="Segoe UI"/>
              </a:rPr>
              <a:t>HTML5 / CSS3</a:t>
            </a:r>
          </a:p>
          <a:p>
            <a:pPr>
              <a:spcAft>
                <a:spcPts val="600"/>
              </a:spcAft>
            </a:pPr>
            <a:r>
              <a:rPr lang="en-US" sz="1600" b="0" dirty="0">
                <a:solidFill>
                  <a:srgbClr val="E6EDF3"/>
                </a:solidFill>
                <a:latin typeface="Segoe UI"/>
                <a:ea typeface="Segoe UI"/>
              </a:rPr>
              <a:t>Vanilla JavaScript</a:t>
            </a:r>
          </a:p>
          <a:p>
            <a:pPr>
              <a:spcAft>
                <a:spcPts val="600"/>
              </a:spcAft>
            </a:pPr>
            <a:r>
              <a:rPr lang="en-US" sz="1600" b="0" dirty="0">
                <a:solidFill>
                  <a:srgbClr val="E6EDF3"/>
                </a:solidFill>
                <a:latin typeface="Segoe UI"/>
                <a:ea typeface="Segoe UI"/>
              </a:rPr>
              <a:t>Apache </a:t>
            </a:r>
            <a:r>
              <a:rPr lang="en-US" sz="1600" b="0" dirty="0" err="1">
                <a:solidFill>
                  <a:srgbClr val="E6EDF3"/>
                </a:solidFill>
                <a:latin typeface="Segoe UI"/>
                <a:ea typeface="Segoe UI"/>
              </a:rPr>
              <a:t>ECharts</a:t>
            </a:r>
            <a:r>
              <a:rPr lang="en-US" sz="1600" b="0" dirty="0">
                <a:solidFill>
                  <a:srgbClr val="E6EDF3"/>
                </a:solidFill>
                <a:latin typeface="Segoe UI"/>
                <a:ea typeface="Segoe UI"/>
              </a:rPr>
              <a:t> 5</a:t>
            </a:r>
          </a:p>
          <a:p>
            <a:pPr>
              <a:spcAft>
                <a:spcPts val="600"/>
              </a:spcAft>
            </a:pPr>
            <a:r>
              <a:rPr lang="en-US" sz="1600" b="0" dirty="0">
                <a:solidFill>
                  <a:srgbClr val="E6EDF3"/>
                </a:solidFill>
                <a:latin typeface="Segoe UI"/>
                <a:ea typeface="Segoe UI"/>
              </a:rPr>
              <a:t>Leaflet.js 1.9</a:t>
            </a:r>
          </a:p>
          <a:p>
            <a:pPr>
              <a:spcAft>
                <a:spcPts val="600"/>
              </a:spcAft>
            </a:pPr>
            <a:r>
              <a:rPr lang="en-US" sz="1600" b="0" dirty="0">
                <a:solidFill>
                  <a:srgbClr val="E6EDF3"/>
                </a:solidFill>
                <a:latin typeface="Segoe UI"/>
                <a:ea typeface="Segoe UI"/>
              </a:rPr>
              <a:t>WebSocket API</a:t>
            </a:r>
          </a:p>
          <a:p>
            <a:pPr>
              <a:spcAft>
                <a:spcPts val="600"/>
              </a:spcAft>
            </a:pPr>
            <a:r>
              <a:rPr lang="en-US" sz="1600" b="0" dirty="0" err="1">
                <a:solidFill>
                  <a:srgbClr val="E6EDF3"/>
                </a:solidFill>
                <a:latin typeface="Segoe UI"/>
                <a:ea typeface="Segoe UI"/>
              </a:rPr>
              <a:t>CSSGrid</a:t>
            </a:r>
            <a:r>
              <a:rPr lang="en-US" sz="1600" b="0" dirty="0">
                <a:solidFill>
                  <a:srgbClr val="E6EDF3"/>
                </a:solidFill>
                <a:latin typeface="Segoe UI"/>
                <a:ea typeface="Segoe UI"/>
              </a:rPr>
              <a:t> / Flexbox</a:t>
            </a:r>
          </a:p>
        </p:txBody>
      </p:sp>
      <p:sp>
        <p:nvSpPr>
          <p:cNvPr id="100102" name="IBMLabel"/>
          <p:cNvSpPr txBox="1"/>
          <p:nvPr/>
        </p:nvSpPr>
        <p:spPr>
          <a:xfrm>
            <a:off x="8280000" y="1152000"/>
            <a:ext cx="324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A371F7"/>
                </a:solidFill>
                <a:latin typeface="Segoe UI"/>
                <a:ea typeface="Segoe UI"/>
              </a:rPr>
              <a:t>IBM Technologies</a:t>
            </a:r>
          </a:p>
        </p:txBody>
      </p:sp>
      <p:sp>
        <p:nvSpPr>
          <p:cNvPr id="100103" name="IBMBox"/>
          <p:cNvSpPr txBox="1"/>
          <p:nvPr/>
        </p:nvSpPr>
        <p:spPr>
          <a:xfrm>
            <a:off x="8280000" y="1440000"/>
            <a:ext cx="3240000" cy="2520000"/>
          </a:xfrm>
          <a:prstGeom prst="rect">
            <a:avLst/>
          </a:prstGeom>
          <a:solidFill>
            <a:srgbClr val="161B22"/>
          </a:solidFill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1600" b="0" dirty="0">
                <a:solidFill>
                  <a:srgbClr val="E6EDF3"/>
                </a:solidFill>
                <a:latin typeface="Segoe UI"/>
                <a:ea typeface="Segoe UI"/>
              </a:rPr>
              <a:t>IBM Bob</a:t>
            </a:r>
          </a:p>
          <a:p>
            <a:pPr>
              <a:spcAft>
                <a:spcPts val="600"/>
              </a:spcAft>
            </a:pPr>
            <a:r>
              <a:rPr lang="en-US" sz="1600" b="0" dirty="0">
                <a:solidFill>
                  <a:srgbClr val="E6EDF3"/>
                </a:solidFill>
                <a:latin typeface="Segoe UI"/>
                <a:ea typeface="Segoe UI"/>
              </a:rPr>
              <a:t>(AI coding assistant used throughout development for refactoring, bug fixing, and feature implementation)</a:t>
            </a:r>
          </a:p>
        </p:txBody>
      </p:sp>
      <p:sp>
        <p:nvSpPr>
          <p:cNvPr id="100104" name="InfraLabel"/>
          <p:cNvSpPr txBox="1"/>
          <p:nvPr/>
        </p:nvSpPr>
        <p:spPr>
          <a:xfrm>
            <a:off x="720000" y="4320000"/>
            <a:ext cx="1062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D29922"/>
                </a:solidFill>
                <a:latin typeface="Segoe UI"/>
                <a:ea typeface="Segoe UI"/>
              </a:rPr>
              <a:t>Infrastructure &amp; Other</a:t>
            </a:r>
          </a:p>
        </p:txBody>
      </p:sp>
      <p:sp>
        <p:nvSpPr>
          <p:cNvPr id="100105" name="InfraBox"/>
          <p:cNvSpPr txBox="1"/>
          <p:nvPr/>
        </p:nvSpPr>
        <p:spPr>
          <a:xfrm>
            <a:off x="720000" y="4608000"/>
            <a:ext cx="10620000" cy="810000"/>
          </a:xfrm>
          <a:prstGeom prst="rect">
            <a:avLst/>
          </a:prstGeom>
          <a:solidFill>
            <a:srgbClr val="161B22"/>
          </a:solidFill>
        </p:spPr>
        <p:txBody>
          <a:bodyPr/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1500" b="0" dirty="0">
                <a:solidFill>
                  <a:srgbClr val="E6EDF3"/>
                </a:solidFill>
                <a:latin typeface="Segoe UI"/>
                <a:ea typeface="Segoe UI"/>
              </a:rPr>
              <a:t>CORS Middleware  |  </a:t>
            </a:r>
            <a:r>
              <a:rPr lang="en-US" sz="1500" b="0" dirty="0" err="1">
                <a:solidFill>
                  <a:srgbClr val="E6EDF3"/>
                </a:solidFill>
                <a:latin typeface="Segoe UI"/>
                <a:ea typeface="Segoe UI"/>
              </a:rPr>
              <a:t>CartoDB</a:t>
            </a:r>
            <a:r>
              <a:rPr lang="en-US" sz="1500" b="0" dirty="0">
                <a:solidFill>
                  <a:srgbClr val="E6EDF3"/>
                </a:solidFill>
                <a:latin typeface="Segoe UI"/>
                <a:ea typeface="Segoe UI"/>
              </a:rPr>
              <a:t> tile layer (map)  |  No external database — in-memory data store  |  Static file serving via </a:t>
            </a:r>
            <a:r>
              <a:rPr lang="en-US" sz="1500" b="0" dirty="0" err="1">
                <a:solidFill>
                  <a:srgbClr val="E6EDF3"/>
                </a:solidFill>
                <a:latin typeface="Segoe UI"/>
                <a:ea typeface="Segoe UI"/>
              </a:rPr>
              <a:t>FastAPI</a:t>
            </a:r>
            <a:r>
              <a:rPr lang="en-US" sz="1500" b="0" dirty="0">
                <a:solidFill>
                  <a:srgbClr val="E6EDF3"/>
                </a:solidFill>
                <a:latin typeface="Segoe UI"/>
                <a:ea typeface="Segoe UI"/>
              </a:rPr>
              <a:t> </a:t>
            </a:r>
            <a:r>
              <a:rPr lang="en-US" sz="1500" b="0" dirty="0" err="1">
                <a:solidFill>
                  <a:srgbClr val="E6EDF3"/>
                </a:solidFill>
                <a:latin typeface="Segoe UI"/>
                <a:ea typeface="Segoe UI"/>
              </a:rPr>
              <a:t>StaticFiles</a:t>
            </a:r>
            <a:r>
              <a:rPr lang="en-US" sz="1500" b="0" dirty="0">
                <a:solidFill>
                  <a:srgbClr val="E6EDF3"/>
                </a:solidFill>
                <a:latin typeface="Segoe UI"/>
                <a:ea typeface="Segoe UI"/>
              </a:rPr>
              <a:t>  |  GitHub for version control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06" name="TopBar"/>
          <p:cNvSpPr txBox="1"/>
          <p:nvPr/>
        </p:nvSpPr>
        <p:spPr>
          <a:xfrm>
            <a:off x="0" y="0"/>
            <a:ext cx="12193200" cy="198000"/>
          </a:xfrm>
          <a:prstGeom prst="rect">
            <a:avLst/>
          </a:prstGeom>
          <a:solidFill>
            <a:srgbClr val="2F81F7"/>
          </a:solidFill>
        </p:spPr>
        <p:txBody>
          <a:bodyPr/>
          <a:lstStyle/>
          <a:p>
            <a:endParaRPr lang="en-US">
              <a:solidFill>
                <a:srgbClr val="2F81F7"/>
              </a:solidFill>
            </a:endParaRPr>
          </a:p>
        </p:txBody>
      </p:sp>
      <p:sp>
        <p:nvSpPr>
          <p:cNvPr id="100107" name="SlideNum"/>
          <p:cNvSpPr txBox="1"/>
          <p:nvPr/>
        </p:nvSpPr>
        <p:spPr>
          <a:xfrm>
            <a:off x="10800000" y="288000"/>
            <a:ext cx="108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0">
                <a:solidFill>
                  <a:srgbClr val="57606A"/>
                </a:solidFill>
                <a:latin typeface="Segoe UI"/>
                <a:ea typeface="Segoe UI"/>
              </a:rPr>
              <a:t>12</a:t>
            </a:r>
          </a:p>
        </p:txBody>
      </p:sp>
      <p:sp>
        <p:nvSpPr>
          <p:cNvPr id="100108" name="Title"/>
          <p:cNvSpPr txBox="1"/>
          <p:nvPr/>
        </p:nvSpPr>
        <p:spPr>
          <a:xfrm>
            <a:off x="720000" y="432000"/>
            <a:ext cx="9360000" cy="50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FFFFFF"/>
                </a:solidFill>
                <a:latin typeface="Segoe UI"/>
                <a:ea typeface="Segoe UI"/>
              </a:rPr>
              <a:t>Demo Walkthrough</a:t>
            </a:r>
          </a:p>
        </p:txBody>
      </p:sp>
      <p:sp>
        <p:nvSpPr>
          <p:cNvPr id="100109" name="Steps"/>
          <p:cNvSpPr txBox="1"/>
          <p:nvPr/>
        </p:nvSpPr>
        <p:spPr>
          <a:xfrm>
            <a:off x="720000" y="1116000"/>
            <a:ext cx="10620000" cy="50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 b="0">
                <a:solidFill>
                  <a:srgbClr val="E6EDF3"/>
                </a:solidFill>
                <a:latin typeface="Segoe UI"/>
                <a:ea typeface="Segoe UI"/>
              </a:rPr>
              <a:t>Step 1  —  Start the server</a:t>
            </a:r>
          </a:p>
          <a:p>
            <a:r>
              <a:rPr lang="en-US" sz="1600" b="0">
                <a:solidFill>
                  <a:srgbClr val="E6EDF3"/>
                </a:solidFill>
                <a:latin typeface="Segoe UI"/>
                <a:ea typeface="Segoe UI"/>
              </a:rPr>
              <a:t>           pip install fastapi uvicorn pydantic</a:t>
            </a:r>
          </a:p>
          <a:p>
            <a:r>
              <a:rPr lang="en-US" sz="1600" b="0">
                <a:solidFill>
                  <a:srgbClr val="E6EDF3"/>
                </a:solidFill>
                <a:latin typeface="Segoe UI"/>
                <a:ea typeface="Segoe UI"/>
              </a:rPr>
              <a:t>           uvicorn main:app --reload</a:t>
            </a:r>
          </a:p>
          <a:p>
            <a:r>
              <a:rPr lang="en-US" sz="1600" b="0">
                <a:solidFill>
                  <a:srgbClr val="E6EDF3"/>
                </a:solidFill>
                <a:latin typeface="Segoe UI"/>
                <a:ea typeface="Segoe UI"/>
              </a:rPr>
              <a:t>           Open http://localhost:8000</a:t>
            </a:r>
          </a:p>
          <a:p>
            <a:endParaRPr lang="en-US" sz="1600" b="0">
              <a:solidFill>
                <a:srgbClr val="E6EDF3"/>
              </a:solidFill>
              <a:latin typeface="Segoe UI"/>
              <a:ea typeface="Segoe UI"/>
            </a:endParaRPr>
          </a:p>
          <a:p>
            <a:r>
              <a:rPr lang="en-US" sz="1600" b="0">
                <a:solidFill>
                  <a:srgbClr val="E6EDF3"/>
                </a:solidFill>
                <a:latin typeface="Segoe UI"/>
                <a:ea typeface="Segoe UI"/>
              </a:rPr>
              <a:t>Step 2  —  Overview Tab</a:t>
            </a:r>
          </a:p>
          <a:p>
            <a:r>
              <a:rPr lang="en-US" sz="1600" b="0">
                <a:solidFill>
                  <a:srgbClr val="E6EDF3"/>
                </a:solidFill>
                <a:latin typeface="Segoe UI"/>
                <a:ea typeface="Segoe UI"/>
              </a:rPr>
              <a:t>           Observe 9 KPI cards (5 per row), 4 ECharts, and the Leaflet map with live shipment markers.</a:t>
            </a:r>
          </a:p>
          <a:p>
            <a:endParaRPr lang="en-US" sz="1600" b="0">
              <a:solidFill>
                <a:srgbClr val="E6EDF3"/>
              </a:solidFill>
              <a:latin typeface="Segoe UI"/>
              <a:ea typeface="Segoe UI"/>
            </a:endParaRPr>
          </a:p>
          <a:p>
            <a:r>
              <a:rPr lang="en-US" sz="1600" b="0">
                <a:solidFill>
                  <a:srgbClr val="E6EDF3"/>
                </a:solidFill>
                <a:latin typeface="Segoe UI"/>
                <a:ea typeface="Segoe UI"/>
              </a:rPr>
              <a:t>Step 3  —  Active Shipments Tab</a:t>
            </a:r>
          </a:p>
          <a:p>
            <a:r>
              <a:rPr lang="en-US" sz="1600" b="0">
                <a:solidFill>
                  <a:srgbClr val="E6EDF3"/>
                </a:solidFill>
                <a:latin typeface="Segoe UI"/>
                <a:ea typeface="Segoe UI"/>
              </a:rPr>
              <a:t>           Click column headers to sort. Use status/category filters and excursion-only checkbox.</a:t>
            </a:r>
          </a:p>
          <a:p>
            <a:endParaRPr lang="en-US" sz="1600" b="0">
              <a:solidFill>
                <a:srgbClr val="E6EDF3"/>
              </a:solidFill>
              <a:latin typeface="Segoe UI"/>
              <a:ea typeface="Segoe UI"/>
            </a:endParaRPr>
          </a:p>
          <a:p>
            <a:r>
              <a:rPr lang="en-US" sz="1600" b="0">
                <a:solidFill>
                  <a:srgbClr val="E6EDF3"/>
                </a:solidFill>
                <a:latin typeface="Segoe UI"/>
                <a:ea typeface="Segoe UI"/>
              </a:rPr>
              <a:t>Step 4  —  Fleet Assets Tab</a:t>
            </a:r>
          </a:p>
          <a:p>
            <a:r>
              <a:rPr lang="en-US" sz="1600" b="0">
                <a:solidFill>
                  <a:srgbClr val="E6EDF3"/>
                </a:solidFill>
                <a:latin typeface="Segoe UI"/>
                <a:ea typeface="Segoe UI"/>
              </a:rPr>
              <a:t>           Filter by Idle/Active. View fuel bars, mileage, driver, assigned shipment.</a:t>
            </a:r>
          </a:p>
          <a:p>
            <a:endParaRPr lang="en-US" sz="1600" b="0">
              <a:solidFill>
                <a:srgbClr val="E6EDF3"/>
              </a:solidFill>
              <a:latin typeface="Segoe UI"/>
              <a:ea typeface="Segoe UI"/>
            </a:endParaRPr>
          </a:p>
          <a:p>
            <a:r>
              <a:rPr lang="en-US" sz="1600" b="0">
                <a:solidFill>
                  <a:srgbClr val="E6EDF3"/>
                </a:solidFill>
                <a:latin typeface="Segoe UI"/>
                <a:ea typeface="Segoe UI"/>
              </a:rPr>
              <a:t>Step 5  —  Alerts Tab</a:t>
            </a:r>
          </a:p>
          <a:p>
            <a:r>
              <a:rPr lang="en-US" sz="1600" b="0">
                <a:solidFill>
                  <a:srgbClr val="E6EDF3"/>
                </a:solidFill>
                <a:latin typeface="Segoe UI"/>
                <a:ea typeface="Segoe UI"/>
              </a:rPr>
              <a:t>           Acknowledge a CRITICAL alert. Observe badge change and state update.</a:t>
            </a:r>
          </a:p>
          <a:p>
            <a:endParaRPr lang="en-US" sz="1600" b="0">
              <a:solidFill>
                <a:srgbClr val="E6EDF3"/>
              </a:solidFill>
              <a:latin typeface="Segoe UI"/>
              <a:ea typeface="Segoe UI"/>
            </a:endParaRPr>
          </a:p>
          <a:p>
            <a:r>
              <a:rPr lang="en-US" sz="1600" b="0">
                <a:solidFill>
                  <a:srgbClr val="E6EDF3"/>
                </a:solidFill>
                <a:latin typeface="Segoe UI"/>
                <a:ea typeface="Segoe UI"/>
              </a:rPr>
              <a:t>Step 6  —  Disruptions Tab</a:t>
            </a:r>
          </a:p>
          <a:p>
            <a:r>
              <a:rPr lang="en-US" sz="1600" b="0">
                <a:solidFill>
                  <a:srgbClr val="E6EDF3"/>
                </a:solidFill>
                <a:latin typeface="Segoe UI"/>
                <a:ea typeface="Segoe UI"/>
              </a:rPr>
              <a:t>           Toggle Active Only. View impact score bars for DIS-002 (9.2/10).</a:t>
            </a:r>
          </a:p>
          <a:p>
            <a:endParaRPr lang="en-US" sz="1600" b="0">
              <a:solidFill>
                <a:srgbClr val="E6EDF3"/>
              </a:solidFill>
              <a:latin typeface="Segoe UI"/>
              <a:ea typeface="Segoe UI"/>
            </a:endParaRPr>
          </a:p>
          <a:p>
            <a:r>
              <a:rPr lang="en-US" sz="1600" b="0">
                <a:solidFill>
                  <a:srgbClr val="E6EDF3"/>
                </a:solidFill>
                <a:latin typeface="Segoe UI"/>
                <a:ea typeface="Segoe UI"/>
              </a:rPr>
              <a:t>Step 7  —  Live Telemetry Tab</a:t>
            </a:r>
          </a:p>
          <a:p>
            <a:r>
              <a:rPr lang="en-US" sz="1600" b="0">
                <a:solidFill>
                  <a:srgbClr val="E6EDF3"/>
                </a:solidFill>
                <a:latin typeface="Segoe UI"/>
                <a:ea typeface="Segoe UI"/>
              </a:rPr>
              <a:t>           Watch the feed, line chart, and donut chart update every 5 seconds via WebSocket.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10" name="TopBar"/>
          <p:cNvSpPr txBox="1"/>
          <p:nvPr/>
        </p:nvSpPr>
        <p:spPr>
          <a:xfrm>
            <a:off x="0" y="0"/>
            <a:ext cx="12193200" cy="198000"/>
          </a:xfrm>
          <a:prstGeom prst="rect">
            <a:avLst/>
          </a:prstGeom>
          <a:solidFill>
            <a:srgbClr val="2F81F7"/>
          </a:solidFill>
        </p:spPr>
        <p:txBody>
          <a:bodyPr/>
          <a:lstStyle/>
          <a:p>
            <a:endParaRPr lang="en-US">
              <a:solidFill>
                <a:srgbClr val="2F81F7"/>
              </a:solidFill>
            </a:endParaRPr>
          </a:p>
        </p:txBody>
      </p:sp>
      <p:sp>
        <p:nvSpPr>
          <p:cNvPr id="100111" name="SlideNum"/>
          <p:cNvSpPr txBox="1"/>
          <p:nvPr/>
        </p:nvSpPr>
        <p:spPr>
          <a:xfrm>
            <a:off x="10800000" y="288000"/>
            <a:ext cx="108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0">
                <a:solidFill>
                  <a:srgbClr val="57606A"/>
                </a:solidFill>
                <a:latin typeface="Segoe UI"/>
                <a:ea typeface="Segoe UI"/>
              </a:rPr>
              <a:t>13</a:t>
            </a:r>
          </a:p>
        </p:txBody>
      </p:sp>
      <p:sp>
        <p:nvSpPr>
          <p:cNvPr id="100112" name="Title"/>
          <p:cNvSpPr txBox="1"/>
          <p:nvPr/>
        </p:nvSpPr>
        <p:spPr>
          <a:xfrm>
            <a:off x="720000" y="432000"/>
            <a:ext cx="9360000" cy="50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FFFFFF"/>
                </a:solidFill>
                <a:latin typeface="Segoe UI"/>
                <a:ea typeface="Segoe UI"/>
              </a:rPr>
              <a:t>Known Limitations &amp; Future Scope</a:t>
            </a:r>
          </a:p>
        </p:txBody>
      </p:sp>
      <p:sp>
        <p:nvSpPr>
          <p:cNvPr id="100113" name="LimLabel"/>
          <p:cNvSpPr txBox="1"/>
          <p:nvPr/>
        </p:nvSpPr>
        <p:spPr>
          <a:xfrm>
            <a:off x="672001" y="1120800"/>
            <a:ext cx="504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 dirty="0">
                <a:solidFill>
                  <a:srgbClr val="F85149"/>
                </a:solidFill>
                <a:latin typeface="Segoe UI"/>
                <a:ea typeface="Segoe UI"/>
              </a:rPr>
              <a:t>Current Limitations</a:t>
            </a:r>
          </a:p>
        </p:txBody>
      </p:sp>
      <p:sp>
        <p:nvSpPr>
          <p:cNvPr id="100114" name="LimBody"/>
          <p:cNvSpPr txBox="1"/>
          <p:nvPr/>
        </p:nvSpPr>
        <p:spPr>
          <a:xfrm>
            <a:off x="720000" y="1520669"/>
            <a:ext cx="5134262" cy="3064469"/>
          </a:xfrm>
          <a:prstGeom prst="rect">
            <a:avLst/>
          </a:prstGeom>
          <a:solidFill>
            <a:srgbClr val="FF0000">
              <a:alpha val="41000"/>
            </a:srgbClr>
          </a:solidFill>
        </p:spPr>
        <p:txBody>
          <a:bodyPr/>
          <a:lstStyle/>
          <a:p>
            <a:r>
              <a:rPr lang="en-US" sz="1500" b="0" dirty="0">
                <a:solidFill>
                  <a:srgbClr val="E6EDF3"/>
                </a:solidFill>
                <a:latin typeface="Segoe UI"/>
                <a:ea typeface="Segoe UI"/>
              </a:rPr>
              <a:t>Simulated data — no real IoT device integration or persistent database</a:t>
            </a:r>
          </a:p>
          <a:p>
            <a:endParaRPr lang="en-US" sz="1500" b="0" dirty="0">
              <a:solidFill>
                <a:srgbClr val="E6EDF3"/>
              </a:solidFill>
              <a:latin typeface="Segoe UI"/>
              <a:ea typeface="Segoe UI"/>
            </a:endParaRPr>
          </a:p>
          <a:p>
            <a:r>
              <a:rPr lang="en-US" sz="1500" b="0" dirty="0">
                <a:solidFill>
                  <a:srgbClr val="E6EDF3"/>
                </a:solidFill>
                <a:latin typeface="Segoe UI"/>
                <a:ea typeface="Segoe UI"/>
              </a:rPr>
              <a:t>No authentication or </a:t>
            </a:r>
            <a:r>
              <a:rPr lang="en-US" sz="1500" b="0" dirty="0" err="1">
                <a:solidFill>
                  <a:srgbClr val="E6EDF3"/>
                </a:solidFill>
                <a:latin typeface="Segoe UI"/>
                <a:ea typeface="Segoe UI"/>
              </a:rPr>
              <a:t>authorisation</a:t>
            </a:r>
            <a:r>
              <a:rPr lang="en-US" sz="1500" b="0" dirty="0">
                <a:solidFill>
                  <a:srgbClr val="E6EDF3"/>
                </a:solidFill>
                <a:latin typeface="Segoe UI"/>
                <a:ea typeface="Segoe UI"/>
              </a:rPr>
              <a:t> on any API endpoint</a:t>
            </a:r>
          </a:p>
          <a:p>
            <a:endParaRPr lang="en-US" sz="1500" b="0" dirty="0">
              <a:solidFill>
                <a:srgbClr val="E6EDF3"/>
              </a:solidFill>
              <a:latin typeface="Segoe UI"/>
              <a:ea typeface="Segoe UI"/>
            </a:endParaRPr>
          </a:p>
          <a:p>
            <a:r>
              <a:rPr lang="en-US" sz="1500" b="0" dirty="0">
                <a:solidFill>
                  <a:srgbClr val="E6EDF3"/>
                </a:solidFill>
                <a:latin typeface="Segoe UI"/>
                <a:ea typeface="Segoe UI"/>
              </a:rPr>
              <a:t>In-memory state — all data resets on server restart</a:t>
            </a:r>
          </a:p>
          <a:p>
            <a:endParaRPr lang="en-US" sz="1500" b="0" dirty="0">
              <a:solidFill>
                <a:srgbClr val="E6EDF3"/>
              </a:solidFill>
              <a:latin typeface="Segoe UI"/>
              <a:ea typeface="Segoe UI"/>
            </a:endParaRPr>
          </a:p>
          <a:p>
            <a:r>
              <a:rPr lang="en-US" sz="1500" b="0" dirty="0">
                <a:solidFill>
                  <a:srgbClr val="E6EDF3"/>
                </a:solidFill>
                <a:latin typeface="Segoe UI"/>
                <a:ea typeface="Segoe UI"/>
              </a:rPr>
              <a:t>Single-user — no multi-tenant support</a:t>
            </a:r>
          </a:p>
          <a:p>
            <a:endParaRPr lang="en-US" sz="1500" b="0" dirty="0">
              <a:solidFill>
                <a:srgbClr val="E6EDF3"/>
              </a:solidFill>
              <a:latin typeface="Segoe UI"/>
              <a:ea typeface="Segoe UI"/>
            </a:endParaRPr>
          </a:p>
          <a:p>
            <a:r>
              <a:rPr lang="en-US" sz="1500" b="0" dirty="0">
                <a:solidFill>
                  <a:srgbClr val="E6EDF3"/>
                </a:solidFill>
                <a:latin typeface="Segoe UI"/>
                <a:ea typeface="Segoe UI"/>
              </a:rPr>
              <a:t>Mobile layout functional but not fully </a:t>
            </a:r>
            <a:r>
              <a:rPr lang="en-US" sz="1500" b="0" dirty="0" err="1">
                <a:solidFill>
                  <a:srgbClr val="E6EDF3"/>
                </a:solidFill>
                <a:latin typeface="Segoe UI"/>
                <a:ea typeface="Segoe UI"/>
              </a:rPr>
              <a:t>optimised</a:t>
            </a:r>
            <a:endParaRPr lang="en-US" sz="1500" b="0" dirty="0">
              <a:solidFill>
                <a:srgbClr val="E6EDF3"/>
              </a:solidFill>
              <a:latin typeface="Segoe UI"/>
              <a:ea typeface="Segoe UI"/>
            </a:endParaRPr>
          </a:p>
          <a:p>
            <a:endParaRPr lang="en-US" sz="1500" b="0" dirty="0">
              <a:solidFill>
                <a:srgbClr val="E6EDF3"/>
              </a:solidFill>
              <a:latin typeface="Segoe UI"/>
              <a:ea typeface="Segoe UI"/>
            </a:endParaRPr>
          </a:p>
          <a:p>
            <a:r>
              <a:rPr lang="en-US" sz="1500" b="0" dirty="0">
                <a:solidFill>
                  <a:srgbClr val="E6EDF3"/>
                </a:solidFill>
                <a:latin typeface="Segoe UI"/>
                <a:ea typeface="Segoe UI"/>
              </a:rPr>
              <a:t>No historical data querying or time-series storage</a:t>
            </a:r>
          </a:p>
        </p:txBody>
      </p:sp>
      <p:sp>
        <p:nvSpPr>
          <p:cNvPr id="100115" name="FutureLabel"/>
          <p:cNvSpPr txBox="1"/>
          <p:nvPr/>
        </p:nvSpPr>
        <p:spPr>
          <a:xfrm>
            <a:off x="6395917" y="1134000"/>
            <a:ext cx="468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b="1" dirty="0">
                <a:solidFill>
                  <a:srgbClr val="3FB950"/>
                </a:solidFill>
                <a:latin typeface="Segoe UI"/>
                <a:ea typeface="Segoe UI"/>
              </a:rPr>
              <a:t>Future Scope</a:t>
            </a:r>
          </a:p>
        </p:txBody>
      </p:sp>
      <p:sp>
        <p:nvSpPr>
          <p:cNvPr id="100116" name="FutureBody"/>
          <p:cNvSpPr txBox="1"/>
          <p:nvPr/>
        </p:nvSpPr>
        <p:spPr>
          <a:xfrm>
            <a:off x="6480000" y="1476000"/>
            <a:ext cx="4680000" cy="3109138"/>
          </a:xfrm>
          <a:prstGeom prst="rect">
            <a:avLst/>
          </a:prstGeom>
          <a:solidFill>
            <a:srgbClr val="00B050">
              <a:alpha val="43000"/>
            </a:srgbClr>
          </a:solidFill>
        </p:spPr>
        <p:txBody>
          <a:bodyPr/>
          <a:lstStyle/>
          <a:p>
            <a:r>
              <a:rPr lang="en-US" sz="1500" b="0" dirty="0">
                <a:solidFill>
                  <a:srgbClr val="E6EDF3"/>
                </a:solidFill>
                <a:latin typeface="Segoe UI"/>
                <a:ea typeface="Segoe UI"/>
              </a:rPr>
              <a:t>Connect real IoT devices (MQTT / AMQP)</a:t>
            </a:r>
          </a:p>
          <a:p>
            <a:endParaRPr lang="en-US" sz="1500" b="0" dirty="0">
              <a:solidFill>
                <a:srgbClr val="E6EDF3"/>
              </a:solidFill>
              <a:latin typeface="Segoe UI"/>
              <a:ea typeface="Segoe UI"/>
            </a:endParaRPr>
          </a:p>
          <a:p>
            <a:r>
              <a:rPr lang="en-US" sz="1500" b="0" dirty="0">
                <a:solidFill>
                  <a:srgbClr val="E6EDF3"/>
                </a:solidFill>
                <a:latin typeface="Segoe UI"/>
                <a:ea typeface="Segoe UI"/>
              </a:rPr>
              <a:t>Persistent storage with PostgreSQL or </a:t>
            </a:r>
            <a:r>
              <a:rPr lang="en-US" sz="1500" b="0" dirty="0" err="1">
                <a:solidFill>
                  <a:srgbClr val="E6EDF3"/>
                </a:solidFill>
                <a:latin typeface="Segoe UI"/>
                <a:ea typeface="Segoe UI"/>
              </a:rPr>
              <a:t>TimescaleDB</a:t>
            </a:r>
            <a:endParaRPr lang="en-US" sz="1500" b="0" dirty="0">
              <a:solidFill>
                <a:srgbClr val="E6EDF3"/>
              </a:solidFill>
              <a:latin typeface="Segoe UI"/>
              <a:ea typeface="Segoe UI"/>
            </a:endParaRPr>
          </a:p>
          <a:p>
            <a:endParaRPr lang="en-US" sz="1500" b="0" dirty="0">
              <a:solidFill>
                <a:srgbClr val="E6EDF3"/>
              </a:solidFill>
              <a:latin typeface="Segoe UI"/>
              <a:ea typeface="Segoe UI"/>
            </a:endParaRPr>
          </a:p>
          <a:p>
            <a:r>
              <a:rPr lang="en-US" sz="1500" b="0" dirty="0">
                <a:solidFill>
                  <a:srgbClr val="E6EDF3"/>
                </a:solidFill>
                <a:latin typeface="Segoe UI"/>
                <a:ea typeface="Segoe UI"/>
              </a:rPr>
              <a:t>watsonx.ai for predictive excursion alerts</a:t>
            </a:r>
          </a:p>
          <a:p>
            <a:endParaRPr lang="en-US" sz="1500" b="0" dirty="0">
              <a:solidFill>
                <a:srgbClr val="E6EDF3"/>
              </a:solidFill>
              <a:latin typeface="Segoe UI"/>
              <a:ea typeface="Segoe UI"/>
            </a:endParaRPr>
          </a:p>
          <a:p>
            <a:r>
              <a:rPr lang="en-US" sz="1500" b="0" dirty="0">
                <a:solidFill>
                  <a:srgbClr val="E6EDF3"/>
                </a:solidFill>
                <a:latin typeface="Segoe UI"/>
                <a:ea typeface="Segoe UI"/>
              </a:rPr>
              <a:t>JWT-based authentication</a:t>
            </a:r>
          </a:p>
          <a:p>
            <a:endParaRPr lang="en-US" sz="1500" b="0" dirty="0">
              <a:solidFill>
                <a:srgbClr val="E6EDF3"/>
              </a:solidFill>
              <a:latin typeface="Segoe UI"/>
              <a:ea typeface="Segoe UI"/>
            </a:endParaRPr>
          </a:p>
          <a:p>
            <a:r>
              <a:rPr lang="en-US" sz="1500" b="0" dirty="0">
                <a:solidFill>
                  <a:srgbClr val="E6EDF3"/>
                </a:solidFill>
                <a:latin typeface="Segoe UI"/>
                <a:ea typeface="Segoe UI"/>
              </a:rPr>
              <a:t>Mobile-first responsive layout</a:t>
            </a:r>
          </a:p>
          <a:p>
            <a:endParaRPr lang="en-US" sz="1500" b="0" dirty="0">
              <a:solidFill>
                <a:srgbClr val="E6EDF3"/>
              </a:solidFill>
              <a:latin typeface="Segoe UI"/>
              <a:ea typeface="Segoe UI"/>
            </a:endParaRPr>
          </a:p>
          <a:p>
            <a:r>
              <a:rPr lang="en-US" sz="1500" b="0" dirty="0">
                <a:solidFill>
                  <a:srgbClr val="E6EDF3"/>
                </a:solidFill>
                <a:latin typeface="Segoe UI"/>
                <a:ea typeface="Segoe UI"/>
              </a:rPr>
              <a:t>Historical trend charts and CSV export</a:t>
            </a:r>
          </a:p>
          <a:p>
            <a:endParaRPr lang="en-US" sz="1500" b="0" dirty="0">
              <a:solidFill>
                <a:srgbClr val="E6EDF3"/>
              </a:solidFill>
              <a:latin typeface="Segoe UI"/>
              <a:ea typeface="Segoe UI"/>
            </a:endParaRPr>
          </a:p>
          <a:p>
            <a:r>
              <a:rPr lang="en-US" sz="1500" b="0" dirty="0">
                <a:solidFill>
                  <a:srgbClr val="E6EDF3"/>
                </a:solidFill>
                <a:latin typeface="Segoe UI"/>
                <a:ea typeface="Segoe UI"/>
              </a:rPr>
              <a:t>Multi-tenant support for logistics fleets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17" name="TopBar"/>
          <p:cNvSpPr txBox="1"/>
          <p:nvPr/>
        </p:nvSpPr>
        <p:spPr>
          <a:xfrm>
            <a:off x="0" y="0"/>
            <a:ext cx="12193200" cy="198000"/>
          </a:xfrm>
          <a:prstGeom prst="rect">
            <a:avLst/>
          </a:prstGeom>
          <a:solidFill>
            <a:srgbClr val="2F81F7"/>
          </a:solidFill>
        </p:spPr>
        <p:txBody>
          <a:bodyPr/>
          <a:lstStyle/>
          <a:p>
            <a:endParaRPr lang="en-US">
              <a:solidFill>
                <a:srgbClr val="2F81F7"/>
              </a:solidFill>
            </a:endParaRPr>
          </a:p>
        </p:txBody>
      </p:sp>
      <p:sp>
        <p:nvSpPr>
          <p:cNvPr id="100118" name="SlideNum"/>
          <p:cNvSpPr txBox="1"/>
          <p:nvPr/>
        </p:nvSpPr>
        <p:spPr>
          <a:xfrm>
            <a:off x="10800000" y="288000"/>
            <a:ext cx="108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0">
                <a:solidFill>
                  <a:srgbClr val="57606A"/>
                </a:solidFill>
                <a:latin typeface="Segoe UI"/>
                <a:ea typeface="Segoe UI"/>
              </a:rPr>
              <a:t>14</a:t>
            </a:r>
          </a:p>
        </p:txBody>
      </p:sp>
      <p:sp>
        <p:nvSpPr>
          <p:cNvPr id="100119" name="Title"/>
          <p:cNvSpPr txBox="1"/>
          <p:nvPr/>
        </p:nvSpPr>
        <p:spPr>
          <a:xfrm>
            <a:off x="720000" y="432000"/>
            <a:ext cx="9360000" cy="50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FFFFFF"/>
                </a:solidFill>
                <a:latin typeface="Segoe UI"/>
                <a:ea typeface="Segoe UI"/>
              </a:rPr>
              <a:t>Meet the Team</a:t>
            </a:r>
          </a:p>
        </p:txBody>
      </p:sp>
      <p:sp>
        <p:nvSpPr>
          <p:cNvPr id="100120" name="TeamName"/>
          <p:cNvSpPr txBox="1"/>
          <p:nvPr/>
        </p:nvSpPr>
        <p:spPr>
          <a:xfrm>
            <a:off x="720000" y="1080000"/>
            <a:ext cx="1062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 b="1">
                <a:solidFill>
                  <a:srgbClr val="2F81F7"/>
                </a:solidFill>
                <a:latin typeface="Segoe UI"/>
                <a:ea typeface="Segoe UI"/>
              </a:rPr>
              <a:t>Team RapidDeploy</a:t>
            </a:r>
          </a:p>
        </p:txBody>
      </p:sp>
      <p:sp>
        <p:nvSpPr>
          <p:cNvPr id="100121" name="Member1"/>
          <p:cNvSpPr txBox="1"/>
          <p:nvPr/>
        </p:nvSpPr>
        <p:spPr>
          <a:xfrm>
            <a:off x="720000" y="1728000"/>
            <a:ext cx="2340000" cy="180000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/>
          <a:lstStyle/>
          <a:p>
            <a:r>
              <a:rPr lang="en-US" b="0" dirty="0">
                <a:solidFill>
                  <a:srgbClr val="E6EDF3"/>
                </a:solidFill>
                <a:latin typeface="Segoe UI"/>
                <a:ea typeface="Segoe UI"/>
              </a:rPr>
              <a:t>Patel Dikshit</a:t>
            </a:r>
            <a:endParaRPr lang="en-US" sz="1600" b="0" dirty="0">
              <a:solidFill>
                <a:srgbClr val="E6EDF3"/>
              </a:solidFill>
              <a:latin typeface="Segoe UI"/>
              <a:ea typeface="Segoe UI"/>
            </a:endParaRPr>
          </a:p>
          <a:p>
            <a:endParaRPr lang="en-US" sz="1600" b="0" dirty="0">
              <a:solidFill>
                <a:srgbClr val="E6EDF3"/>
              </a:solidFill>
              <a:latin typeface="Segoe UI"/>
              <a:ea typeface="Segoe UI"/>
            </a:endParaRPr>
          </a:p>
          <a:p>
            <a:r>
              <a:rPr lang="en-US" sz="1600" b="0" dirty="0">
                <a:solidFill>
                  <a:srgbClr val="E6EDF3"/>
                </a:solidFill>
                <a:latin typeface="Segoe UI"/>
                <a:ea typeface="Segoe UI"/>
              </a:rPr>
              <a:t>Team Lead</a:t>
            </a:r>
          </a:p>
          <a:p>
            <a:r>
              <a:rPr lang="en-US" sz="1600" b="0" dirty="0">
                <a:solidFill>
                  <a:srgbClr val="E6EDF3"/>
                </a:solidFill>
                <a:latin typeface="Segoe UI"/>
                <a:ea typeface="Segoe UI"/>
              </a:rPr>
              <a:t>26mca115@gmail.com</a:t>
            </a:r>
          </a:p>
        </p:txBody>
      </p:sp>
      <p:sp>
        <p:nvSpPr>
          <p:cNvPr id="100122" name="Member2"/>
          <p:cNvSpPr txBox="1"/>
          <p:nvPr/>
        </p:nvSpPr>
        <p:spPr>
          <a:xfrm>
            <a:off x="3492000" y="1728000"/>
            <a:ext cx="2340000" cy="1800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/>
          <a:p>
            <a:r>
              <a:rPr lang="en-US" b="0" dirty="0">
                <a:solidFill>
                  <a:srgbClr val="E6EDF3"/>
                </a:solidFill>
                <a:latin typeface="Segoe UI"/>
                <a:ea typeface="Segoe UI"/>
              </a:rPr>
              <a:t>Parekh Rudra</a:t>
            </a:r>
            <a:endParaRPr lang="en-US" sz="1600" b="0" dirty="0">
              <a:solidFill>
                <a:srgbClr val="E6EDF3"/>
              </a:solidFill>
              <a:latin typeface="Segoe UI"/>
              <a:ea typeface="Segoe UI"/>
            </a:endParaRPr>
          </a:p>
          <a:p>
            <a:endParaRPr lang="en-US" sz="1600" b="0" dirty="0">
              <a:solidFill>
                <a:srgbClr val="E6EDF3"/>
              </a:solidFill>
              <a:latin typeface="Segoe UI"/>
              <a:ea typeface="Segoe UI"/>
            </a:endParaRPr>
          </a:p>
          <a:p>
            <a:r>
              <a:rPr lang="en-US" sz="1600" b="0" dirty="0">
                <a:solidFill>
                  <a:srgbClr val="E6EDF3"/>
                </a:solidFill>
                <a:latin typeface="Segoe UI"/>
                <a:ea typeface="Segoe UI"/>
              </a:rPr>
              <a:t>Member</a:t>
            </a:r>
          </a:p>
          <a:p>
            <a:r>
              <a:rPr lang="en-US" sz="1600" b="0" dirty="0">
                <a:solidFill>
                  <a:srgbClr val="E6EDF3"/>
                </a:solidFill>
                <a:latin typeface="Segoe UI"/>
                <a:ea typeface="Segoe UI"/>
              </a:rPr>
              <a:t>26mca103@gmail.com</a:t>
            </a:r>
          </a:p>
        </p:txBody>
      </p:sp>
      <p:sp>
        <p:nvSpPr>
          <p:cNvPr id="100123" name="Member3"/>
          <p:cNvSpPr txBox="1"/>
          <p:nvPr/>
        </p:nvSpPr>
        <p:spPr>
          <a:xfrm>
            <a:off x="6264000" y="1728000"/>
            <a:ext cx="2340000" cy="1800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/>
          <a:lstStyle/>
          <a:p>
            <a:r>
              <a:rPr lang="en-US" b="0" dirty="0">
                <a:solidFill>
                  <a:srgbClr val="E6EDF3"/>
                </a:solidFill>
                <a:latin typeface="Segoe UI"/>
                <a:ea typeface="Segoe UI"/>
              </a:rPr>
              <a:t>Patel Dhruv</a:t>
            </a:r>
          </a:p>
          <a:p>
            <a:endParaRPr lang="en-US" b="0" dirty="0">
              <a:solidFill>
                <a:srgbClr val="E6EDF3"/>
              </a:solidFill>
              <a:latin typeface="Segoe UI"/>
              <a:ea typeface="Segoe UI"/>
            </a:endParaRPr>
          </a:p>
          <a:p>
            <a:r>
              <a:rPr lang="en-US" sz="1600" b="0" dirty="0">
                <a:solidFill>
                  <a:srgbClr val="E6EDF3"/>
                </a:solidFill>
                <a:latin typeface="Segoe UI"/>
                <a:ea typeface="Segoe UI"/>
              </a:rPr>
              <a:t>Member</a:t>
            </a:r>
          </a:p>
          <a:p>
            <a:r>
              <a:rPr lang="en-US" sz="1600" b="0" dirty="0">
                <a:solidFill>
                  <a:srgbClr val="E6EDF3"/>
                </a:solidFill>
                <a:latin typeface="Segoe UI"/>
                <a:ea typeface="Segoe UI"/>
              </a:rPr>
              <a:t>26mca114@gmail.com</a:t>
            </a:r>
          </a:p>
        </p:txBody>
      </p:sp>
      <p:sp>
        <p:nvSpPr>
          <p:cNvPr id="100124" name="Member4"/>
          <p:cNvSpPr txBox="1"/>
          <p:nvPr/>
        </p:nvSpPr>
        <p:spPr>
          <a:xfrm>
            <a:off x="9036000" y="1728000"/>
            <a:ext cx="2340000" cy="18000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/>
          <a:lstStyle/>
          <a:p>
            <a:r>
              <a:rPr lang="en-US" b="0" dirty="0">
                <a:solidFill>
                  <a:srgbClr val="E6EDF3"/>
                </a:solidFill>
                <a:latin typeface="Segoe UI"/>
                <a:ea typeface="Segoe UI"/>
              </a:rPr>
              <a:t>Patel Jainil</a:t>
            </a:r>
          </a:p>
          <a:p>
            <a:endParaRPr lang="en-US" b="0" dirty="0">
              <a:solidFill>
                <a:srgbClr val="E6EDF3"/>
              </a:solidFill>
              <a:latin typeface="Segoe UI"/>
              <a:ea typeface="Segoe UI"/>
            </a:endParaRPr>
          </a:p>
          <a:p>
            <a:r>
              <a:rPr lang="en-US" sz="1600" b="0" dirty="0">
                <a:solidFill>
                  <a:srgbClr val="E6EDF3"/>
                </a:solidFill>
                <a:latin typeface="Segoe UI"/>
                <a:ea typeface="Segoe UI"/>
              </a:rPr>
              <a:t>Member</a:t>
            </a:r>
          </a:p>
          <a:p>
            <a:r>
              <a:rPr lang="en-US" sz="1600" b="0" dirty="0">
                <a:solidFill>
                  <a:srgbClr val="E6EDF3"/>
                </a:solidFill>
                <a:latin typeface="Segoe UI"/>
                <a:ea typeface="Segoe UI"/>
              </a:rPr>
              <a:t>26mca117@gmail.com</a:t>
            </a:r>
          </a:p>
        </p:txBody>
      </p:sp>
      <p:sp>
        <p:nvSpPr>
          <p:cNvPr id="100125" name="Track"/>
          <p:cNvSpPr txBox="1"/>
          <p:nvPr/>
        </p:nvSpPr>
        <p:spPr>
          <a:xfrm>
            <a:off x="720000" y="3960000"/>
            <a:ext cx="106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500" b="0" dirty="0">
                <a:solidFill>
                  <a:srgbClr val="57606A"/>
                </a:solidFill>
                <a:latin typeface="Segoe UI"/>
                <a:ea typeface="Segoe UI"/>
              </a:rPr>
              <a:t>Track: Open  |  IBM Hackathon 2026  |  Built with IBM Bob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26" name="TopBar"/>
          <p:cNvSpPr txBox="1"/>
          <p:nvPr/>
        </p:nvSpPr>
        <p:spPr>
          <a:xfrm>
            <a:off x="0" y="0"/>
            <a:ext cx="12193200" cy="198000"/>
          </a:xfrm>
          <a:prstGeom prst="rect">
            <a:avLst/>
          </a:prstGeom>
          <a:solidFill>
            <a:srgbClr val="2F81F7"/>
          </a:solidFill>
        </p:spPr>
        <p:txBody>
          <a:bodyPr/>
          <a:lstStyle/>
          <a:p>
            <a:endParaRPr lang="en-US">
              <a:solidFill>
                <a:srgbClr val="2F81F7"/>
              </a:solidFill>
            </a:endParaRPr>
          </a:p>
        </p:txBody>
      </p:sp>
      <p:sp>
        <p:nvSpPr>
          <p:cNvPr id="100127" name="Thanks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000" b="1">
                <a:solidFill>
                  <a:srgbClr val="FFFFFF"/>
                </a:solidFill>
                <a:latin typeface="Segoe UI"/>
                <a:ea typeface="Segoe UI"/>
              </a:rPr>
              <a:t>Thank You</a:t>
            </a:r>
          </a:p>
        </p:txBody>
      </p:sp>
      <p:sp>
        <p:nvSpPr>
          <p:cNvPr id="100128" name="Project"/>
          <p:cNvSpPr txBox="1"/>
          <p:nvPr/>
        </p:nvSpPr>
        <p:spPr>
          <a:xfrm>
            <a:off x="720000" y="2520000"/>
            <a:ext cx="10800000" cy="50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 b="0">
                <a:solidFill>
                  <a:srgbClr val="2F81F7"/>
                </a:solidFill>
                <a:latin typeface="Segoe UI"/>
                <a:ea typeface="Segoe UI"/>
              </a:rPr>
              <a:t>RapidDeploy — Supply Chain &amp; Cold-Chain Operations Dashboard</a:t>
            </a:r>
          </a:p>
        </p:txBody>
      </p:sp>
      <p:sp>
        <p:nvSpPr>
          <p:cNvPr id="100129" name="Summary"/>
          <p:cNvSpPr txBox="1"/>
          <p:nvPr/>
        </p:nvSpPr>
        <p:spPr>
          <a:xfrm>
            <a:off x="720000" y="3240000"/>
            <a:ext cx="108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700" b="0">
                <a:solidFill>
                  <a:srgbClr val="8B949E"/>
                </a:solidFill>
                <a:latin typeface="Segoe UI"/>
                <a:ea typeface="Segoe UI"/>
              </a:rPr>
              <a:t>Real-time IoT telemetry  ·  Temperature excursion detection  ·  Sortable shipments table</a:t>
            </a:r>
          </a:p>
          <a:p>
            <a:r>
              <a:rPr lang="en-US" sz="1700" b="0">
                <a:solidFill>
                  <a:srgbClr val="8B949E"/>
                </a:solidFill>
                <a:latin typeface="Segoe UI"/>
                <a:ea typeface="Segoe UI"/>
              </a:rPr>
              <a:t>Fleet asset monitoring  ·  Disruption event tracking  ·  KPI overview with 30 s refresh</a:t>
            </a:r>
          </a:p>
        </p:txBody>
      </p:sp>
      <p:sp>
        <p:nvSpPr>
          <p:cNvPr id="100130" name="Divider"/>
          <p:cNvSpPr txBox="1"/>
          <p:nvPr/>
        </p:nvSpPr>
        <p:spPr>
          <a:xfrm>
            <a:off x="720000" y="4140000"/>
            <a:ext cx="10620000" cy="18000"/>
          </a:xfrm>
          <a:prstGeom prst="rect">
            <a:avLst/>
          </a:prstGeom>
          <a:solidFill>
            <a:srgbClr val="30363D"/>
          </a:solidFill>
        </p:spPr>
        <p:txBody>
          <a:bodyPr/>
          <a:lstStyle/>
          <a:p>
            <a:endParaRPr lang="en-US">
              <a:solidFill>
                <a:srgbClr val="30363D"/>
              </a:solidFill>
            </a:endParaRPr>
          </a:p>
        </p:txBody>
      </p:sp>
      <p:sp>
        <p:nvSpPr>
          <p:cNvPr id="100131" name="RunInstr"/>
          <p:cNvSpPr txBox="1"/>
          <p:nvPr/>
        </p:nvSpPr>
        <p:spPr>
          <a:xfrm>
            <a:off x="720000" y="4392000"/>
            <a:ext cx="1062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0">
                <a:solidFill>
                  <a:srgbClr val="57606A"/>
                </a:solidFill>
                <a:latin typeface="Segoe UI"/>
                <a:ea typeface="Segoe UI"/>
              </a:rPr>
              <a:t>To run:  pip install fastapi uvicorn pydantic  |  uvicorn main:app --reload  |  open http://localhost:8000</a:t>
            </a:r>
          </a:p>
        </p:txBody>
      </p:sp>
      <p:sp>
        <p:nvSpPr>
          <p:cNvPr id="100132" name="TeamLine"/>
          <p:cNvSpPr txBox="1"/>
          <p:nvPr/>
        </p:nvSpPr>
        <p:spPr>
          <a:xfrm>
            <a:off x="720000" y="5760000"/>
            <a:ext cx="1062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 b="0" dirty="0">
                <a:solidFill>
                  <a:srgbClr val="57606A"/>
                </a:solidFill>
                <a:latin typeface="Segoe UI"/>
                <a:ea typeface="Segoe UI"/>
              </a:rPr>
              <a:t>Team </a:t>
            </a:r>
            <a:r>
              <a:rPr lang="en-US" sz="1300" b="0" dirty="0" err="1">
                <a:solidFill>
                  <a:srgbClr val="57606A"/>
                </a:solidFill>
                <a:latin typeface="Segoe UI"/>
                <a:ea typeface="Segoe UI"/>
              </a:rPr>
              <a:t>RapidDeploy</a:t>
            </a:r>
            <a:r>
              <a:rPr lang="en-US" sz="1300" b="0" dirty="0">
                <a:solidFill>
                  <a:srgbClr val="57606A"/>
                </a:solidFill>
                <a:latin typeface="Segoe UI"/>
                <a:ea typeface="Segoe UI"/>
              </a:rPr>
              <a:t>  |  Patel Dikshit  ·  Parekh Rudra  ·  Patel Dhruv  ·  Patel Jainil  |  IBM Hackathon 2026</a:t>
            </a:r>
          </a:p>
        </p:txBody>
      </p:sp>
      <p:sp>
        <p:nvSpPr>
          <p:cNvPr id="100133" name="BottomBar"/>
          <p:cNvSpPr txBox="1"/>
          <p:nvPr/>
        </p:nvSpPr>
        <p:spPr>
          <a:xfrm>
            <a:off x="0" y="6660000"/>
            <a:ext cx="12193200" cy="198000"/>
          </a:xfrm>
          <a:prstGeom prst="rect">
            <a:avLst/>
          </a:prstGeom>
          <a:solidFill>
            <a:srgbClr val="161B22"/>
          </a:solidFill>
        </p:spPr>
        <p:txBody>
          <a:bodyPr/>
          <a:lstStyle/>
          <a:p>
            <a:endParaRPr lang="en-US">
              <a:solidFill>
                <a:srgbClr val="161B2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2243</Words>
  <Application>Microsoft Office PowerPoint</Application>
  <PresentationFormat>Widescreen</PresentationFormat>
  <Paragraphs>240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OfficeCLI</dc:creator>
  <cp:lastModifiedBy>26MCA115 DIKSHIT PATEL</cp:lastModifiedBy>
  <cp:revision>1</cp:revision>
  <dcterms:created xsi:type="dcterms:W3CDTF">2026-09-15T14:26:03Z</dcterms:created>
  <dcterms:modified xsi:type="dcterms:W3CDTF">2026-09-15T15:33:47Z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ceCLI.Version">
    <vt:lpwstr>1.0.150</vt:lpwstr>
  </property>
  <property fmtid="{D5CDD505-2E9C-101B-9397-08002B2CF9AE}" pid="3" name="OfficeCLI.LastModified">
    <vt:lpwstr>2026-09-15T14:31:45Z</vt:lpwstr>
  </property>
</Properties>
</file>